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302440e56c414c" /><Relationship Type="http://schemas.openxmlformats.org/officeDocument/2006/relationships/extended-properties" Target="/docProps/app.xml" Id="R1f61156579554092" /><Relationship Type="http://schemas.openxmlformats.org/officeDocument/2006/relationships/officeDocument" Target="/ppt/presentation.xml" Id="R603c6b45619c4f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726c3110154418"/>
  </p:sldMasterIdLst>
  <p:notesMasterIdLst>
    <p:notesMasterId xmlns:r="http://schemas.openxmlformats.org/officeDocument/2006/relationships" r:id="R829782a2186f403d"/>
  </p:notesMasterIdLst>
  <p:sldIdLst>
    <p:sldId xmlns:r="http://schemas.openxmlformats.org/officeDocument/2006/relationships" id="256" r:id="R9877d1b4273a48c7"/>
    <p:sldId xmlns:r="http://schemas.openxmlformats.org/officeDocument/2006/relationships" id="257" r:id="R4925f5a8fb44410d"/>
    <p:sldId xmlns:r="http://schemas.openxmlformats.org/officeDocument/2006/relationships" id="258" r:id="R0cd6e8403579481a"/>
    <p:sldId xmlns:r="http://schemas.openxmlformats.org/officeDocument/2006/relationships" id="259" r:id="R341aad105f594c6e"/>
    <p:sldId xmlns:r="http://schemas.openxmlformats.org/officeDocument/2006/relationships" id="260" r:id="R726e2b9738d84f27"/>
    <p:sldId xmlns:r="http://schemas.openxmlformats.org/officeDocument/2006/relationships" id="261" r:id="R17b1e0c8969142e0"/>
    <p:sldId xmlns:r="http://schemas.openxmlformats.org/officeDocument/2006/relationships" id="262" r:id="Rc40fdaff15b94214"/>
    <p:sldId xmlns:r="http://schemas.openxmlformats.org/officeDocument/2006/relationships" id="263" r:id="R01925d14ade04931"/>
    <p:sldId xmlns:r="http://schemas.openxmlformats.org/officeDocument/2006/relationships" id="264" r:id="R4b6f096d190b4dcf"/>
    <p:sldId xmlns:r="http://schemas.openxmlformats.org/officeDocument/2006/relationships" id="265" r:id="R4fa09cf1a2b84897"/>
    <p:sldId xmlns:r="http://schemas.openxmlformats.org/officeDocument/2006/relationships" id="266" r:id="R63b7430f59fb41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21b6d4b1b455f" /><Relationship Type="http://schemas.openxmlformats.org/officeDocument/2006/relationships/slideMaster" Target="/ppt/slideMasters/slideMaster1.xml" Id="Re9726c3110154418" /><Relationship Type="http://schemas.openxmlformats.org/officeDocument/2006/relationships/notesMaster" Target="/ppt/notesMasters/notesMaster1.xml" Id="R829782a2186f403d" /><Relationship Type="http://schemas.openxmlformats.org/officeDocument/2006/relationships/presProps" Target="/ppt/presProps.xml" Id="Rc4b292384f9343ff" /><Relationship Type="http://schemas.openxmlformats.org/officeDocument/2006/relationships/tableStyles" Target="/ppt/tableStyles.xml" Id="Rf4bea2bd61c54395" /><Relationship Type="http://schemas.openxmlformats.org/officeDocument/2006/relationships/slide" Target="/ppt/slides/slide1.xml" Id="R9877d1b4273a48c7" /><Relationship Type="http://schemas.openxmlformats.org/officeDocument/2006/relationships/slide" Target="/ppt/slides/slide2.xml" Id="R4925f5a8fb44410d" /><Relationship Type="http://schemas.openxmlformats.org/officeDocument/2006/relationships/slide" Target="/ppt/slides/slide3.xml" Id="R0cd6e8403579481a" /><Relationship Type="http://schemas.openxmlformats.org/officeDocument/2006/relationships/slide" Target="/ppt/slides/slide4.xml" Id="R341aad105f594c6e" /><Relationship Type="http://schemas.openxmlformats.org/officeDocument/2006/relationships/slide" Target="/ppt/slides/slide5.xml" Id="R726e2b9738d84f27" /><Relationship Type="http://schemas.openxmlformats.org/officeDocument/2006/relationships/slide" Target="/ppt/slides/slide6.xml" Id="R17b1e0c8969142e0" /><Relationship Type="http://schemas.openxmlformats.org/officeDocument/2006/relationships/slide" Target="/ppt/slides/slide7.xml" Id="Rc40fdaff15b94214" /><Relationship Type="http://schemas.openxmlformats.org/officeDocument/2006/relationships/slide" Target="/ppt/slides/slide8.xml" Id="R01925d14ade04931" /><Relationship Type="http://schemas.openxmlformats.org/officeDocument/2006/relationships/slide" Target="/ppt/slides/slide9.xml" Id="R4b6f096d190b4dcf" /><Relationship Type="http://schemas.openxmlformats.org/officeDocument/2006/relationships/slide" Target="/ppt/slides/slide10.xml" Id="R4fa09cf1a2b84897" /><Relationship Type="http://schemas.openxmlformats.org/officeDocument/2006/relationships/slide" Target="/ppt/slides/slide11.xml" Id="R63b7430f59fb41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364643673e42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bf0109434d456e" /><Relationship Type="http://schemas.openxmlformats.org/officeDocument/2006/relationships/notesMaster" Target="/ppt/notesMasters/notesMaster1.xml" Id="R2b0344c10e8f4e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83c0788e4b4fb2" /><Relationship Type="http://schemas.openxmlformats.org/officeDocument/2006/relationships/notesMaster" Target="/ppt/notesMasters/notesMaster1.xml" Id="R8716970cd8c84c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bcf93532264870" /><Relationship Type="http://schemas.openxmlformats.org/officeDocument/2006/relationships/notesMaster" Target="/ppt/notesMasters/notesMaster1.xml" Id="R5376c4d35eee47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cf0359628c4761" /><Relationship Type="http://schemas.openxmlformats.org/officeDocument/2006/relationships/notesMaster" Target="/ppt/notesMasters/notesMaster1.xml" Id="R0ccdd05e00ae4e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176ae5d6e4457e" /><Relationship Type="http://schemas.openxmlformats.org/officeDocument/2006/relationships/notesMaster" Target="/ppt/notesMasters/notesMaster1.xml" Id="Red8d03bea7c94c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ca1ae6db074a67" /><Relationship Type="http://schemas.openxmlformats.org/officeDocument/2006/relationships/notesMaster" Target="/ppt/notesMasters/notesMaster1.xml" Id="Rbfb71792ae7549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48c6e23ccc4a02" /><Relationship Type="http://schemas.openxmlformats.org/officeDocument/2006/relationships/notesMaster" Target="/ppt/notesMasters/notesMaster1.xml" Id="R58a666ba690c4d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7c4785c8004256" /><Relationship Type="http://schemas.openxmlformats.org/officeDocument/2006/relationships/notesMaster" Target="/ppt/notesMasters/notesMaster1.xml" Id="R8cffc811a0bb4a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116eace36c4e5e" /><Relationship Type="http://schemas.openxmlformats.org/officeDocument/2006/relationships/notesMaster" Target="/ppt/notesMasters/notesMaster1.xml" Id="Rf9a885ee107945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12b6d2b1234b21" /><Relationship Type="http://schemas.openxmlformats.org/officeDocument/2006/relationships/notesMaster" Target="/ppt/notesMasters/notesMaster1.xml" Id="Rbdbad4dc49ae4e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5e7e7378c846b9" /><Relationship Type="http://schemas.openxmlformats.org/officeDocument/2006/relationships/notesMaster" Target="/ppt/notesMasters/notesMaster1.xml" Id="R949ce8a703874f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56371435d444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7a55dae4264352" /><Relationship Type="http://schemas.openxmlformats.org/officeDocument/2006/relationships/slideLayout" Target="/ppt/slideLayouts/slideLayout1.xml" Id="R32a43c58416f46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a43c58416f46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4ea5fac2a4c18" /><Relationship Type="http://schemas.openxmlformats.org/officeDocument/2006/relationships/image" Target="/ppt/media/image.png" Id="Rdbc9e8f909bc40ed" /><Relationship Type="http://schemas.openxmlformats.org/officeDocument/2006/relationships/image" Target="/ppt/media/image2.png" Id="R0e0422d088724638" /><Relationship Type="http://schemas.openxmlformats.org/officeDocument/2006/relationships/notesSlide" Target="/ppt/notesSlides/notesSlide1.xml" Id="R050c07d8fdf14e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991ac1d2c4e4d" /><Relationship Type="http://schemas.openxmlformats.org/officeDocument/2006/relationships/image" Target="/ppt/media/image.jpeg" Id="Rec9af5c8073d4935" /><Relationship Type="http://schemas.openxmlformats.org/officeDocument/2006/relationships/notesSlide" Target="/ppt/notesSlides/notesSlide2.xml" Id="R196c59b5d10a4f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c15de565c4651" /><Relationship Type="http://schemas.openxmlformats.org/officeDocument/2006/relationships/image" Target="/ppt/media/image3.png" Id="Re95cd4056e0b4072" /><Relationship Type="http://schemas.openxmlformats.org/officeDocument/2006/relationships/notesSlide" Target="/ppt/notesSlides/notesSlide3.xml" Id="Rf2f7059f087c4d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e1274eb3245f4" /><Relationship Type="http://schemas.openxmlformats.org/officeDocument/2006/relationships/image" Target="/ppt/media/image4.png" Id="Ra8d50d2f1d0e4a7b" /><Relationship Type="http://schemas.openxmlformats.org/officeDocument/2006/relationships/image" Target="/ppt/media/image5.png" Id="R8f2d8ebf11d84f96" /><Relationship Type="http://schemas.openxmlformats.org/officeDocument/2006/relationships/image" Target="/ppt/media/image6.png" Id="R0693f57ab9e44bb0" /><Relationship Type="http://schemas.openxmlformats.org/officeDocument/2006/relationships/notesSlide" Target="/ppt/notesSlides/notesSlide4.xml" Id="R55936e39000045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24e03aa5242a0" /><Relationship Type="http://schemas.openxmlformats.org/officeDocument/2006/relationships/image" Target="/ppt/media/image7.png" Id="Rc781508ac6ff44e3" /><Relationship Type="http://schemas.openxmlformats.org/officeDocument/2006/relationships/notesSlide" Target="/ppt/notesSlides/notesSlide5.xml" Id="Rfa4b516472d04a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fe426f48245a3" /><Relationship Type="http://schemas.openxmlformats.org/officeDocument/2006/relationships/image" Target="/ppt/media/image8.png" Id="R544376eef9574db0" /><Relationship Type="http://schemas.openxmlformats.org/officeDocument/2006/relationships/notesSlide" Target="/ppt/notesSlides/notesSlide6.xml" Id="R3f39624b2bd34d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c20253c66542bf" /><Relationship Type="http://schemas.openxmlformats.org/officeDocument/2006/relationships/notesSlide" Target="/ppt/notesSlides/notesSlide7.xml" Id="R470534a15ba2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101fc264d47a2" /><Relationship Type="http://schemas.openxmlformats.org/officeDocument/2006/relationships/image" Target="/ppt/media/image9.png" Id="R2c43acf0942c499e" /><Relationship Type="http://schemas.openxmlformats.org/officeDocument/2006/relationships/notesSlide" Target="/ppt/notesSlides/notesSlide8.xml" Id="Red948ea1734547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2890676ba40e1" /><Relationship Type="http://schemas.openxmlformats.org/officeDocument/2006/relationships/notesSlide" Target="/ppt/notesSlides/notesSlide9.xml" Id="R2122951be2f240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3fb4fc0144dfe" /><Relationship Type="http://schemas.openxmlformats.org/officeDocument/2006/relationships/image" Target="/ppt/media/image10.png" Id="Re3d39b62ddbb48e3" /><Relationship Type="http://schemas.openxmlformats.org/officeDocument/2006/relationships/image" Target="/ppt/media/image11.png" Id="Rdc94c5a8c3a44d10" /><Relationship Type="http://schemas.openxmlformats.org/officeDocument/2006/relationships/notesSlide" Target="/ppt/notesSlides/notesSlide10.xml" Id="Re922646b3d1240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1d90f3e884348" /><Relationship Type="http://schemas.openxmlformats.org/officeDocument/2006/relationships/image" Target="/ppt/media/image12.png" Id="R1a90b7d79e0344d0" /><Relationship Type="http://schemas.openxmlformats.org/officeDocument/2006/relationships/notesSlide" Target="/ppt/notesSlides/notesSlide11.xml" Id="R94f6ea6b267d41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9e8f909bc40ed"/>
          <a:srcRect xmlns:a="http://schemas.openxmlformats.org/drawingml/2006/main" l="10737" t="0" r="107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0"/>
            <a:ext cx="4667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field">
            <a:extLst xmlns:a="http://schemas.openxmlformats.org/drawingml/2006/main">
              <a:ext uri="{FF2B5EF4-FFF2-40B4-BE49-F238E27FC236}">
                <a16:creationId xmlns:a16="http://schemas.microsoft.com/office/drawing/2014/main" id="{0E9098B5-A9BA-47CF-973B-AE18AACC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422d088724638"/>
          <a:stretch xmlns:a="http://schemas.openxmlformats.org/drawingml/2006/main"/>
        </p:blipFill>
        <p:spPr>
          <a:xfrm xmlns:a="http://schemas.openxmlformats.org/drawingml/2006/main">
            <a:off x="685800" y="666750"/>
            <a:ext cx="1219200" cy="1219200"/>
          </a:xfrm>
          <a:prstGeom xmlns:a="http://schemas.openxmlformats.org/drawingml/2006/main" prst="rect">
            <a:avLst/>
          </a:prstGeom>
        </p:spPr>
      </p:pic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36C7E18-969F-4C46-8852-BC833A74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E2D2B8"/>
                </a:solidFill>
              </a:defRPr>
            </a:pPr>
            <a:r>
              <a:rPr sz="5400" b="1">
                <a:solidFill>
                  <a:srgbClr val="E2D2B8"/>
                </a:solidFill>
              </a:rPr>
              <a:t>SHAYA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51B0F63-2C55-41B3-AC0D-A2E848AF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58A25"/>
                </a:solidFill>
              </a:defRPr>
            </a:pPr>
            <a:r>
              <a:rPr sz="1500" b="1">
                <a:solidFill>
                  <a:srgbClr val="D58A25"/>
                </a:solidFill>
              </a:rPr>
              <a:t>PERSONAL BRAND GUIDELINES</a:t>
            </a:r>
          </a:p>
        </p:txBody>
      </p:sp>
      <p:sp>
        <p:nvSpPr>
          <p:cNvPr id="6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11519835-010F-4E37-86A2-C2152107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472"/>
                </a:solidFill>
              </a:defRPr>
            </a:pPr>
            <a:r>
              <a:rPr sz="1350" b="0">
                <a:solidFill>
                  <a:srgbClr val="6D7472"/>
                </a:solidFill>
              </a:rPr>
              <a:t>Midnight Archive / Version 1.0</a:t>
            </a:r>
          </a:p>
        </p:txBody>
      </p:sp>
      <p:sp>
        <p:nvSpPr>
          <p:cNvPr id="7" name="cover-tagline">
            <a:extLst xmlns:a="http://schemas.openxmlformats.org/drawingml/2006/main">
              <a:ext uri="{FF2B5EF4-FFF2-40B4-BE49-F238E27FC236}">
                <a16:creationId xmlns:a16="http://schemas.microsoft.com/office/drawing/2014/main" id="{7449DF50-BE30-4272-B1C1-290E46F1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2D2B8"/>
                </a:solidFill>
              </a:defRPr>
            </a:pPr>
            <a:r>
              <a:rPr sz="1650" b="1">
                <a:solidFill>
                  <a:srgbClr val="E2D2B8"/>
                </a:solidFill>
              </a:rPr>
              <a:t>TRACE WHAT OTHERS MISS.</a:t>
            </a:r>
          </a:p>
        </p:txBody>
      </p:sp>
    </p:spTree>
    <p:extLst>
      <p:ext uri="{BB962C8B-B14F-4D97-AF65-F5344CB8AC3E}">
        <p14:creationId xmlns:p14="http://schemas.microsoft.com/office/powerpoint/2010/main" val="4688655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E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af5c8073d4935"/>
          <a:srcRect xmlns:a="http://schemas.openxmlformats.org/drawingml/2006/main" l="0" t="5978" r="0" b="59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F96D2FE-55FB-4906-9FB7-2475D550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2E20"/>
                </a:solidFill>
              </a:defRPr>
            </a:pPr>
            <a:r>
              <a:rPr sz="1125" b="1">
                <a:solidFill>
                  <a:srgbClr val="7C2E20"/>
                </a:solidFill>
              </a:rPr>
              <a:t>01 / BRAND CORE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8DAF7B-ED18-4E76-98E6-07805CC1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3"/>
                </a:solidFill>
              </a:defRPr>
            </a:pPr>
            <a:r>
              <a:rPr sz="3150" b="1">
                <a:solidFill>
                  <a:srgbClr val="071013"/>
                </a:solidFill>
              </a:rPr>
              <a:t>A trusted investigator for hard systems</a:t>
            </a:r>
          </a:p>
        </p:txBody>
      </p:sp>
      <p:sp>
        <p:nvSpPr>
          <p:cNvPr id="4" name="positioning">
            <a:extLst xmlns:a="http://schemas.openxmlformats.org/drawingml/2006/main">
              <a:ext uri="{FF2B5EF4-FFF2-40B4-BE49-F238E27FC236}">
                <a16:creationId xmlns:a16="http://schemas.microsoft.com/office/drawing/2014/main" id="{9D49E57B-98ED-44DA-9FAC-303C629D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013"/>
                </a:solidFill>
              </a:defRPr>
            </a:pPr>
            <a:r>
              <a:rPr sz="1800" b="1">
                <a:solidFill>
                  <a:srgbClr val="071013"/>
                </a:solidFill>
              </a:rPr>
              <a:t>SHAYA turns uncertain technical systems into clear, tested results.</a:t>
            </a:r>
          </a:p>
        </p:txBody>
      </p:sp>
      <p:sp>
        <p:nvSpPr>
          <p:cNvPr id="5" name="promise">
            <a:extLst xmlns:a="http://schemas.openxmlformats.org/drawingml/2006/main">
              <a:ext uri="{FF2B5EF4-FFF2-40B4-BE49-F238E27FC236}">
                <a16:creationId xmlns:a16="http://schemas.microsoft.com/office/drawing/2014/main" id="{B4AB7E6F-A235-409A-9236-3CE65AF2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33A3A"/>
                </a:solidFill>
              </a:defRPr>
            </a:pPr>
            <a:r>
              <a:rPr sz="1500" b="0">
                <a:solidFill>
                  <a:srgbClr val="333A3A"/>
                </a:solidFill>
              </a:rPr>
              <a:t>Brand promise</a:t>
            </a:r>
          </a:p>
          <a:p xmlns:a="http://schemas.openxmlformats.org/drawingml/2006/main">
            <a:pPr algn="l">
              <a:defRPr sz="1500" b="0">
                <a:solidFill>
                  <a:srgbClr val="333A3A"/>
                </a:solidFill>
              </a:defRPr>
            </a:pPr>
            <a:r>
              <a:rPr sz="1500" b="0">
                <a:solidFill>
                  <a:srgbClr val="333A3A"/>
                </a:solidFill>
              </a:rPr>
              <a:t>Make complex work easier to inspect, understand, and trust.</a:t>
            </a:r>
          </a:p>
        </p:txBody>
      </p:sp>
      <p:sp>
        <p:nvSpPr>
          <p:cNvPr id="6" name="attribute-exact">
            <a:extLst xmlns:a="http://schemas.openxmlformats.org/drawingml/2006/main">
              <a:ext uri="{FF2B5EF4-FFF2-40B4-BE49-F238E27FC236}">
                <a16:creationId xmlns:a16="http://schemas.microsoft.com/office/drawing/2014/main" id="{B5E7C465-EAAF-4108-AAC4-98BE231B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EXACT</a:t>
            </a:r>
          </a:p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Claims use evidence.</a:t>
            </a:r>
          </a:p>
        </p:txBody>
      </p:sp>
      <p:sp>
        <p:nvSpPr>
          <p:cNvPr id="7" name="attribute-calm">
            <a:extLst xmlns:a="http://schemas.openxmlformats.org/drawingml/2006/main">
              <a:ext uri="{FF2B5EF4-FFF2-40B4-BE49-F238E27FC236}">
                <a16:creationId xmlns:a16="http://schemas.microsoft.com/office/drawing/2014/main" id="{59E4A248-7E2D-4BE7-A443-EAD88D61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48150"/>
            <a:ext cx="209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CALM</a:t>
            </a:r>
          </a:p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The system does not shout.</a:t>
            </a:r>
          </a:p>
        </p:txBody>
      </p:sp>
      <p:sp>
        <p:nvSpPr>
          <p:cNvPr id="8" name="attribute-curious">
            <a:extLst xmlns:a="http://schemas.openxmlformats.org/drawingml/2006/main">
              <a:ext uri="{FF2B5EF4-FFF2-40B4-BE49-F238E27FC236}">
                <a16:creationId xmlns:a16="http://schemas.microsoft.com/office/drawing/2014/main" id="{351EF33B-AF15-4903-BDD8-667C8A93A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48150"/>
            <a:ext cx="2286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CURIOUS</a:t>
            </a:r>
          </a:p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Look beyond the first answer.</a:t>
            </a:r>
          </a:p>
        </p:txBody>
      </p:sp>
      <p:sp>
        <p:nvSpPr>
          <p:cNvPr id="9" name="attribute-practical">
            <a:extLst xmlns:a="http://schemas.openxmlformats.org/drawingml/2006/main">
              <a:ext uri="{FF2B5EF4-FFF2-40B4-BE49-F238E27FC236}">
                <a16:creationId xmlns:a16="http://schemas.microsoft.com/office/drawing/2014/main" id="{F1517E21-84A0-42F1-AE49-CA99474D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295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PRACTICAL</a:t>
            </a:r>
          </a:p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Each idea must lead to a useful result.</a:t>
            </a:r>
          </a:p>
        </p:txBody>
      </p:sp>
      <p:sp>
        <p:nvSpPr>
          <p:cNvPr id="10" name="attribute-independent">
            <a:extLst xmlns:a="http://schemas.openxmlformats.org/drawingml/2006/main">
              <a:ext uri="{FF2B5EF4-FFF2-40B4-BE49-F238E27FC236}">
                <a16:creationId xmlns:a16="http://schemas.microsoft.com/office/drawing/2014/main" id="{401121B2-4731-4C29-99FE-F27665E1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95900"/>
            <a:ext cx="3429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INDEPENDENT</a:t>
            </a:r>
          </a:p>
          <a:p xmlns:a="http://schemas.openxmlformats.org/drawingml/2006/main">
            <a:pPr algn="l">
              <a:defRPr sz="1275" b="1">
                <a:solidFill>
                  <a:srgbClr val="071013"/>
                </a:solidFill>
              </a:defRPr>
            </a:pPr>
            <a:r>
              <a:rPr sz="1275" b="1">
                <a:solidFill>
                  <a:srgbClr val="071013"/>
                </a:solidFill>
              </a:rPr>
              <a:t>Direct, clear, and willing to state limits.</a:t>
            </a:r>
          </a:p>
        </p:txBody>
      </p:sp>
      <p:sp>
        <p:nvSpPr>
          <p:cNvPr id="1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2A74B016-392C-41D2-A092-013C0A55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56C"/>
                </a:solidFill>
              </a:defRPr>
            </a:pPr>
            <a:r>
              <a:rPr sz="825" b="0">
                <a:solidFill>
                  <a:srgbClr val="7A756C"/>
                </a:solidFill>
              </a:rPr>
              <a:t>SHAYA / MIDNIGHT ARCHIVE</a:t>
            </a:r>
          </a:p>
        </p:txBody>
      </p:sp>
      <p:sp>
        <p:nvSpPr>
          <p:cNvPr id="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848E5DF-1A6E-4233-9DD3-95E93BE0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56C"/>
                </a:solidFill>
              </a:defRPr>
            </a:pPr>
            <a:r>
              <a:rPr sz="825" b="0">
                <a:solidFill>
                  <a:srgbClr val="7A75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609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84EA4894-DC11-4117-96C0-0BF31D2F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8A25"/>
                </a:solidFill>
              </a:defRPr>
            </a:pPr>
            <a:r>
              <a:rPr sz="1125" b="1">
                <a:solidFill>
                  <a:srgbClr val="D58A25"/>
                </a:solidFill>
              </a:rPr>
              <a:t>02 / BRAND IDEA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C493E35-CF15-4312-9852-4D4ED3F0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D2B8"/>
                </a:solidFill>
              </a:defRPr>
            </a:pPr>
            <a:r>
              <a:rPr sz="3150" b="1">
                <a:solidFill>
                  <a:srgbClr val="E2D2B8"/>
                </a:solidFill>
              </a:rPr>
              <a:t>Follow the evidence through the dark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cd4056e0b4072"/>
          <a:stretch xmlns:a="http://schemas.openxmlformats.org/drawingml/2006/main"/>
        </p:blipFill>
        <p:spPr>
          <a:xfrm xmlns:a="http://schemas.openxmlformats.org/drawingml/2006/main">
            <a:off x="819150" y="1809750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meaning-01">
            <a:extLst xmlns:a="http://schemas.openxmlformats.org/drawingml/2006/main">
              <a:ext uri="{FF2B5EF4-FFF2-40B4-BE49-F238E27FC236}">
                <a16:creationId xmlns:a16="http://schemas.microsoft.com/office/drawing/2014/main" id="{32D9A854-E9BC-4770-824B-B58CE682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669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8A25"/>
                </a:solidFill>
              </a:defRPr>
            </a:pPr>
            <a:r>
              <a:rPr sz="1800" b="1">
                <a:solidFill>
                  <a:srgbClr val="D58A25"/>
                </a:solidFill>
              </a:rPr>
              <a:t>01</a:t>
            </a:r>
          </a:p>
        </p:txBody>
      </p:sp>
      <p:sp>
        <p:nvSpPr>
          <p:cNvPr id="5" name="meaning-arch-title">
            <a:extLst xmlns:a="http://schemas.openxmlformats.org/drawingml/2006/main">
              <a:ext uri="{FF2B5EF4-FFF2-40B4-BE49-F238E27FC236}">
                <a16:creationId xmlns:a16="http://schemas.microsoft.com/office/drawing/2014/main" id="{8226E3BA-745A-4F50-BDCE-A1D6EC8B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669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D2B8"/>
                </a:solidFill>
              </a:defRPr>
            </a:pPr>
            <a:r>
              <a:rPr sz="1950" b="1">
                <a:solidFill>
                  <a:srgbClr val="E2D2B8"/>
                </a:solidFill>
              </a:rPr>
              <a:t>THE ARCH</a:t>
            </a:r>
          </a:p>
        </p:txBody>
      </p:sp>
      <p:sp>
        <p:nvSpPr>
          <p:cNvPr id="6" name="meaning-arch-body">
            <a:extLst xmlns:a="http://schemas.openxmlformats.org/drawingml/2006/main">
              <a:ext uri="{FF2B5EF4-FFF2-40B4-BE49-F238E27FC236}">
                <a16:creationId xmlns:a16="http://schemas.microsoft.com/office/drawing/2014/main" id="{DFE4966B-943A-4D49-B05D-E03F4258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472"/>
                </a:solidFill>
              </a:defRPr>
            </a:pPr>
            <a:r>
              <a:rPr sz="1350" b="0">
                <a:solidFill>
                  <a:srgbClr val="6D7472"/>
                </a:solidFill>
              </a:rPr>
              <a:t>The problem boundary. It contains the unknown.</a:t>
            </a:r>
          </a:p>
        </p:txBody>
      </p:sp>
      <p:sp>
        <p:nvSpPr>
          <p:cNvPr id="7" name="meaning-02">
            <a:extLst xmlns:a="http://schemas.openxmlformats.org/drawingml/2006/main">
              <a:ext uri="{FF2B5EF4-FFF2-40B4-BE49-F238E27FC236}">
                <a16:creationId xmlns:a16="http://schemas.microsoft.com/office/drawing/2014/main" id="{AC1E2D47-11F8-4448-BBF4-CBA581E2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4325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8A25"/>
                </a:solidFill>
              </a:defRPr>
            </a:pPr>
            <a:r>
              <a:rPr sz="1800" b="1">
                <a:solidFill>
                  <a:srgbClr val="D58A25"/>
                </a:solidFill>
              </a:rPr>
              <a:t>02</a:t>
            </a:r>
          </a:p>
        </p:txBody>
      </p:sp>
      <p:sp>
        <p:nvSpPr>
          <p:cNvPr id="8" name="meaning-square-title">
            <a:extLst xmlns:a="http://schemas.openxmlformats.org/drawingml/2006/main">
              <a:ext uri="{FF2B5EF4-FFF2-40B4-BE49-F238E27FC236}">
                <a16:creationId xmlns:a16="http://schemas.microsoft.com/office/drawing/2014/main" id="{04122CC9-7687-44C0-A948-EAA9A8EB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D2B8"/>
                </a:solidFill>
              </a:defRPr>
            </a:pPr>
            <a:r>
              <a:rPr sz="1950" b="1">
                <a:solidFill>
                  <a:srgbClr val="E2D2B8"/>
                </a:solidFill>
              </a:rPr>
              <a:t>THE SQUARE</a:t>
            </a:r>
          </a:p>
        </p:txBody>
      </p:sp>
      <p:sp>
        <p:nvSpPr>
          <p:cNvPr id="9" name="meaning-square-body">
            <a:extLst xmlns:a="http://schemas.openxmlformats.org/drawingml/2006/main">
              <a:ext uri="{FF2B5EF4-FFF2-40B4-BE49-F238E27FC236}">
                <a16:creationId xmlns:a16="http://schemas.microsoft.com/office/drawing/2014/main" id="{A8B5C0F6-B646-4935-82C3-97DDBAE4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472"/>
                </a:solidFill>
              </a:defRPr>
            </a:pPr>
            <a:r>
              <a:rPr sz="1350" b="0">
                <a:solidFill>
                  <a:srgbClr val="6D7472"/>
                </a:solidFill>
              </a:rPr>
              <a:t>Verified evidence. Small, clear, and fixed.</a:t>
            </a:r>
          </a:p>
        </p:txBody>
      </p:sp>
      <p:sp>
        <p:nvSpPr>
          <p:cNvPr id="10" name="meaning-03">
            <a:extLst xmlns:a="http://schemas.openxmlformats.org/drawingml/2006/main">
              <a:ext uri="{FF2B5EF4-FFF2-40B4-BE49-F238E27FC236}">
                <a16:creationId xmlns:a16="http://schemas.microsoft.com/office/drawing/2014/main" id="{86DB1023-DB13-44D1-A53E-1486CBF8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9600"/>
            <a:ext cx="66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58A25"/>
                </a:solidFill>
              </a:defRPr>
            </a:pPr>
            <a:r>
              <a:rPr sz="1800" b="1">
                <a:solidFill>
                  <a:srgbClr val="D58A25"/>
                </a:solidFill>
              </a:rPr>
              <a:t>03</a:t>
            </a:r>
          </a:p>
        </p:txBody>
      </p:sp>
      <p:sp>
        <p:nvSpPr>
          <p:cNvPr id="11" name="meaning-trace-title">
            <a:extLst xmlns:a="http://schemas.openxmlformats.org/drawingml/2006/main">
              <a:ext uri="{FF2B5EF4-FFF2-40B4-BE49-F238E27FC236}">
                <a16:creationId xmlns:a16="http://schemas.microsoft.com/office/drawing/2014/main" id="{956DC357-E84E-46FA-AE2F-BE01CE95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196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2D2B8"/>
                </a:solidFill>
              </a:defRPr>
            </a:pPr>
            <a:r>
              <a:rPr sz="1950" b="1">
                <a:solidFill>
                  <a:srgbClr val="E2D2B8"/>
                </a:solidFill>
              </a:rPr>
              <a:t>THE TRACE</a:t>
            </a:r>
          </a:p>
        </p:txBody>
      </p:sp>
      <p:sp>
        <p:nvSpPr>
          <p:cNvPr id="12" name="meaning-trace-body">
            <a:extLst xmlns:a="http://schemas.openxmlformats.org/drawingml/2006/main">
              <a:ext uri="{FF2B5EF4-FFF2-40B4-BE49-F238E27FC236}">
                <a16:creationId xmlns:a16="http://schemas.microsoft.com/office/drawing/2014/main" id="{D4A405B8-161B-43AA-B2E1-1BBAE2EC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419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472"/>
                </a:solidFill>
              </a:defRPr>
            </a:pPr>
            <a:r>
              <a:rPr sz="1350" b="0">
                <a:solidFill>
                  <a:srgbClr val="6D7472"/>
                </a:solidFill>
              </a:rPr>
              <a:t>The path from uncertainty to a result that others can inspect.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B883555-B5E1-48CB-9F7B-A85935AB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SHAYA / MIDNIGHT ARCHIVE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449BE5-5091-451E-8CB3-486CCB02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74330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E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2A7489D9-816F-4109-868E-3DFD6538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2E20"/>
                </a:solidFill>
              </a:defRPr>
            </a:pPr>
            <a:r>
              <a:rPr sz="1125" b="1">
                <a:solidFill>
                  <a:srgbClr val="7C2E20"/>
                </a:solidFill>
              </a:rPr>
              <a:t>03 / LOGO SYSTEM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2831FC-FA5C-4DCE-B1C5-B2AD6251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3"/>
                </a:solidFill>
              </a:defRPr>
            </a:pPr>
            <a:r>
              <a:rPr sz="3150" b="1">
                <a:solidFill>
                  <a:srgbClr val="071013"/>
                </a:solidFill>
              </a:rPr>
              <a:t>Use the mark as a calm signal, not a badge</a:t>
            </a:r>
          </a:p>
        </p:txBody>
      </p:sp>
      <p:sp>
        <p:nvSpPr>
          <p:cNvPr id="3" name="dark-mark-field">
            <a:extLst xmlns:a="http://schemas.openxmlformats.org/drawingml/2006/main">
              <a:ext uri="{FF2B5EF4-FFF2-40B4-BE49-F238E27FC236}">
                <a16:creationId xmlns:a16="http://schemas.microsoft.com/office/drawing/2014/main" id="{717B12A5-5A34-426F-918B-9BE83985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3238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d50d2f1d0e4a7b"/>
          <a:stretch xmlns:a="http://schemas.openxmlformats.org/drawingml/2006/main"/>
        </p:blipFill>
        <p:spPr>
          <a:xfrm xmlns:a="http://schemas.openxmlformats.org/drawingml/2006/main">
            <a:off x="990600" y="19812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dark-mark-label">
            <a:extLst xmlns:a="http://schemas.openxmlformats.org/drawingml/2006/main">
              <a:ext uri="{FF2B5EF4-FFF2-40B4-BE49-F238E27FC236}">
                <a16:creationId xmlns:a16="http://schemas.microsoft.com/office/drawing/2014/main" id="{2A01CD86-5065-4A77-96AE-5EC669F6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8A25"/>
                </a:solidFill>
              </a:defRPr>
            </a:pPr>
            <a:r>
              <a:rPr sz="1050" b="1">
                <a:solidFill>
                  <a:srgbClr val="D58A25"/>
                </a:solidFill>
              </a:rPr>
              <a:t>PRIMARY / DARK</a:t>
            </a:r>
          </a:p>
        </p:txBody>
      </p:sp>
      <p:sp>
        <p:nvSpPr>
          <p:cNvPr id="6" name="light-mark-field">
            <a:extLst xmlns:a="http://schemas.openxmlformats.org/drawingml/2006/main">
              <a:ext uri="{FF2B5EF4-FFF2-40B4-BE49-F238E27FC236}">
                <a16:creationId xmlns:a16="http://schemas.microsoft.com/office/drawing/2014/main" id="{E04F2CA2-F356-47ED-9783-BD118585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3238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2B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2d8ebf11d84f96"/>
          <a:stretch xmlns:a="http://schemas.openxmlformats.org/drawingml/2006/main"/>
        </p:blipFill>
        <p:spPr>
          <a:xfrm xmlns:a="http://schemas.openxmlformats.org/drawingml/2006/main">
            <a:off x="4476750" y="198120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light-mark-label">
            <a:extLst xmlns:a="http://schemas.openxmlformats.org/drawingml/2006/main">
              <a:ext uri="{FF2B5EF4-FFF2-40B4-BE49-F238E27FC236}">
                <a16:creationId xmlns:a16="http://schemas.microsoft.com/office/drawing/2014/main" id="{7BB47363-A6BD-42C2-AFE3-F274E11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013"/>
                </a:solidFill>
              </a:defRPr>
            </a:pPr>
            <a:r>
              <a:rPr sz="1050" b="1">
                <a:solidFill>
                  <a:srgbClr val="071013"/>
                </a:solidFill>
              </a:rPr>
              <a:t>SECONDARY / LIGHT</a:t>
            </a:r>
          </a:p>
        </p:txBody>
      </p:sp>
      <p:sp>
        <p:nvSpPr>
          <p:cNvPr id="9" name="wordmark-field">
            <a:extLst xmlns:a="http://schemas.openxmlformats.org/drawingml/2006/main">
              <a:ext uri="{FF2B5EF4-FFF2-40B4-BE49-F238E27FC236}">
                <a16:creationId xmlns:a16="http://schemas.microsoft.com/office/drawing/2014/main" id="{B5843EB9-5BBA-4544-A7A0-CC3AD5DC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95450"/>
            <a:ext cx="4000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23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3f57ab9e44bb0"/>
          <a:stretch xmlns:a="http://schemas.openxmlformats.org/drawingml/2006/main"/>
        </p:blipFill>
        <p:spPr>
          <a:xfrm xmlns:a="http://schemas.openxmlformats.org/drawingml/2006/main">
            <a:off x="7867650" y="2597944"/>
            <a:ext cx="3429000" cy="900113"/>
          </a:xfrm>
          <a:prstGeom xmlns:a="http://schemas.openxmlformats.org/drawingml/2006/main" prst="rect">
            <a:avLst/>
          </a:prstGeom>
        </p:spPr>
      </p:pic>
      <p:sp>
        <p:nvSpPr>
          <p:cNvPr id="11" name="wordmark-label">
            <a:extLst xmlns:a="http://schemas.openxmlformats.org/drawingml/2006/main">
              <a:ext uri="{FF2B5EF4-FFF2-40B4-BE49-F238E27FC236}">
                <a16:creationId xmlns:a16="http://schemas.microsoft.com/office/drawing/2014/main" id="{8F94DB77-CD2B-45FB-A44B-44FC7F10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672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8A25"/>
                </a:solidFill>
              </a:defRPr>
            </a:pPr>
            <a:r>
              <a:rPr sz="1050" b="1">
                <a:solidFill>
                  <a:srgbClr val="D58A25"/>
                </a:solidFill>
              </a:rPr>
              <a:t>HORIZONTAL LOCKUP</a:t>
            </a:r>
          </a:p>
        </p:txBody>
      </p:sp>
      <p:sp>
        <p:nvSpPr>
          <p:cNvPr id="12" name="logo-note">
            <a:extLst xmlns:a="http://schemas.openxmlformats.org/drawingml/2006/main">
              <a:ext uri="{FF2B5EF4-FFF2-40B4-BE49-F238E27FC236}">
                <a16:creationId xmlns:a16="http://schemas.microsoft.com/office/drawing/2014/main" id="{9FF9977E-48AC-4C15-9DE7-A39832CD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866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4D4A"/>
                </a:solidFill>
              </a:defRPr>
            </a:pPr>
            <a:r>
              <a:rPr sz="1350" b="0">
                <a:solidFill>
                  <a:srgbClr val="4B4D4A"/>
                </a:solidFill>
              </a:rPr>
              <a:t>Use one logo form per surface. Do not combine the mark and wordmark twice.</a:t>
            </a:r>
          </a:p>
        </p:txBody>
      </p:sp>
      <p:sp>
        <p:nvSpPr>
          <p:cNvPr id="1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B4ED10C-D1AC-40B5-9B44-2EF91813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56C"/>
                </a:solidFill>
              </a:defRPr>
            </a:pPr>
            <a:r>
              <a:rPr sz="825" b="0">
                <a:solidFill>
                  <a:srgbClr val="7A756C"/>
                </a:solidFill>
              </a:rPr>
              <a:t>SHAYA / MIDNIGHT ARCHIVE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39757E9-31D0-4E57-8721-222D389A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56C"/>
                </a:solidFill>
              </a:defRPr>
            </a:pPr>
            <a:r>
              <a:rPr sz="825" b="0">
                <a:solidFill>
                  <a:srgbClr val="7A75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75917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157EAC59-5177-47DA-8EB5-F43CAADC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8A25"/>
                </a:solidFill>
              </a:defRPr>
            </a:pPr>
            <a:r>
              <a:rPr sz="1125" b="1">
                <a:solidFill>
                  <a:srgbClr val="D58A25"/>
                </a:solidFill>
              </a:rPr>
              <a:t>04 / SPACING AND SCALE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3AF0D8-7F5C-42F5-8E59-146DE963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D2B8"/>
                </a:solidFill>
              </a:defRPr>
            </a:pPr>
            <a:r>
              <a:rPr sz="3150" b="1">
                <a:solidFill>
                  <a:srgbClr val="E2D2B8"/>
                </a:solidFill>
              </a:rPr>
              <a:t>Preserve space so the trace stays legible</a:t>
            </a:r>
          </a:p>
        </p:txBody>
      </p:sp>
      <p:sp>
        <p:nvSpPr>
          <p:cNvPr id="3" name="clearspace-heading">
            <a:extLst xmlns:a="http://schemas.openxmlformats.org/drawingml/2006/main">
              <a:ext uri="{FF2B5EF4-FFF2-40B4-BE49-F238E27FC236}">
                <a16:creationId xmlns:a16="http://schemas.microsoft.com/office/drawing/2014/main" id="{129B1C77-CDC9-4612-8E51-DD022169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D2B8"/>
                </a:solidFill>
              </a:defRPr>
            </a:pPr>
            <a:r>
              <a:rPr sz="1875" b="1">
                <a:solidFill>
                  <a:srgbClr val="E2D2B8"/>
                </a:solidFill>
              </a:rPr>
              <a:t>CLEAR SPACE</a:t>
            </a:r>
          </a:p>
        </p:txBody>
      </p:sp>
      <p:sp>
        <p:nvSpPr>
          <p:cNvPr id="4" name="clearspace-copy">
            <a:extLst xmlns:a="http://schemas.openxmlformats.org/drawingml/2006/main">
              <a:ext uri="{FF2B5EF4-FFF2-40B4-BE49-F238E27FC236}">
                <a16:creationId xmlns:a16="http://schemas.microsoft.com/office/drawing/2014/main" id="{415BDB73-D06A-4869-80AB-49DF0755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472"/>
                </a:solidFill>
              </a:defRPr>
            </a:pPr>
            <a:r>
              <a:rPr sz="1350" b="0">
                <a:solidFill>
                  <a:srgbClr val="6D7472"/>
                </a:solidFill>
              </a:rPr>
              <a:t>Keep one amber-square unit around every side of the mark.</a:t>
            </a:r>
          </a:p>
        </p:txBody>
      </p:sp>
      <p:sp>
        <p:nvSpPr>
          <p:cNvPr id="5" name="minsize-heading">
            <a:extLst xmlns:a="http://schemas.openxmlformats.org/drawingml/2006/main">
              <a:ext uri="{FF2B5EF4-FFF2-40B4-BE49-F238E27FC236}">
                <a16:creationId xmlns:a16="http://schemas.microsoft.com/office/drawing/2014/main" id="{F4FD8AB6-DF7A-4A94-8C96-54E57ED2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2D2B8"/>
                </a:solidFill>
              </a:defRPr>
            </a:pPr>
            <a:r>
              <a:rPr sz="1875" b="1">
                <a:solidFill>
                  <a:srgbClr val="E2D2B8"/>
                </a:solidFill>
              </a:rPr>
              <a:t>MINIMUM SIZE</a:t>
            </a:r>
          </a:p>
        </p:txBody>
      </p:sp>
      <p:sp>
        <p:nvSpPr>
          <p:cNvPr id="6" name="minsize-copy">
            <a:extLst xmlns:a="http://schemas.openxmlformats.org/drawingml/2006/main">
              <a:ext uri="{FF2B5EF4-FFF2-40B4-BE49-F238E27FC236}">
                <a16:creationId xmlns:a16="http://schemas.microsoft.com/office/drawing/2014/main" id="{9D1EA6EC-6F36-4C5E-BDB8-AC5A0135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D2B8"/>
                </a:solidFill>
              </a:defRPr>
            </a:pPr>
            <a:r>
              <a:rPr sz="1350" b="0">
                <a:solidFill>
                  <a:srgbClr val="E2D2B8"/>
                </a:solidFill>
              </a:rPr>
              <a:t>Digital mark: 24 px</a:t>
            </a:r>
          </a:p>
          <a:p xmlns:a="http://schemas.openxmlformats.org/drawingml/2006/main">
            <a:pPr algn="l">
              <a:defRPr sz="1350" b="0">
                <a:solidFill>
                  <a:srgbClr val="E2D2B8"/>
                </a:solidFill>
              </a:defRPr>
            </a:pPr>
            <a:r>
              <a:rPr sz="1350" b="0">
                <a:solidFill>
                  <a:srgbClr val="E2D2B8"/>
                </a:solidFill>
              </a:rPr>
              <a:t>GitHub avatar: 32 px</a:t>
            </a:r>
          </a:p>
          <a:p xmlns:a="http://schemas.openxmlformats.org/drawingml/2006/main">
            <a:pPr algn="l">
              <a:defRPr sz="1350" b="0">
                <a:solidFill>
                  <a:srgbClr val="E2D2B8"/>
                </a:solidFill>
              </a:defRPr>
            </a:pPr>
            <a:r>
              <a:rPr sz="1350" b="0">
                <a:solidFill>
                  <a:srgbClr val="E2D2B8"/>
                </a:solidFill>
              </a:rPr>
              <a:t>Printed mark: 8 mm</a:t>
            </a:r>
          </a:p>
        </p:txBody>
      </p:sp>
      <p:sp>
        <p:nvSpPr>
          <p:cNvPr id="7" name="minsize-warning">
            <a:extLst xmlns:a="http://schemas.openxmlformats.org/drawingml/2006/main">
              <a:ext uri="{FF2B5EF4-FFF2-40B4-BE49-F238E27FC236}">
                <a16:creationId xmlns:a16="http://schemas.microsoft.com/office/drawing/2014/main" id="{73CF5A59-BD1E-4CD2-A9FB-E5E71C0B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8A25"/>
                </a:solidFill>
              </a:defRPr>
            </a:pPr>
            <a:r>
              <a:rPr sz="1350" b="0">
                <a:solidFill>
                  <a:srgbClr val="D58A25"/>
                </a:solidFill>
              </a:rPr>
              <a:t>Never crop the arch or reduce the trace to a thin line.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1508ac6ff44e3"/>
          <a:stretch xmlns:a="http://schemas.openxmlformats.org/drawingml/2006/main"/>
        </p:blipFill>
        <p:spPr>
          <a:xfrm xmlns:a="http://schemas.openxmlformats.org/drawingml/2006/main">
            <a:off x="4773576" y="1581150"/>
            <a:ext cx="6645349" cy="4762500"/>
          </a:xfrm>
          <a:prstGeom xmlns:a="http://schemas.openxmlformats.org/drawingml/2006/main" prst="rect">
            <a:avLst/>
          </a:prstGeom>
        </p:spPr>
      </p:pic>
      <p:sp>
        <p:nvSpPr>
          <p:cNvPr id="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0FF54792-5A4C-474B-90E0-48DB7454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SHAYA / MIDNIGHT ARCHIVE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0B44C6D-37CB-4E8C-B029-E6208713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495363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28BA61D4-DC62-4277-898F-1339482E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8A25"/>
                </a:solidFill>
              </a:defRPr>
            </a:pPr>
            <a:r>
              <a:rPr sz="1125" b="1">
                <a:solidFill>
                  <a:srgbClr val="D58A25"/>
                </a:solidFill>
              </a:rPr>
              <a:t>05 / COLOR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E2A59B-3055-4C75-8526-335BEFD2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D2B8"/>
                </a:solidFill>
              </a:defRPr>
            </a:pPr>
            <a:r>
              <a:rPr sz="3150" b="1">
                <a:solidFill>
                  <a:srgbClr val="E2D2B8"/>
                </a:solidFill>
              </a:rPr>
              <a:t>The palette starts in shadow and resolves in amber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4376eef9574db0"/>
          <a:stretch xmlns:a="http://schemas.openxmlformats.org/drawingml/2006/main"/>
        </p:blipFill>
        <p:spPr>
          <a:xfrm xmlns:a="http://schemas.openxmlformats.org/drawingml/2006/main">
            <a:off x="609600" y="1658711"/>
            <a:ext cx="10972800" cy="2873829"/>
          </a:xfrm>
          <a:prstGeom xmlns:a="http://schemas.openxmlformats.org/drawingml/2006/main" prst="rect">
            <a:avLst/>
          </a:prstGeom>
        </p:spPr>
      </p:pic>
      <p:sp>
        <p:nvSpPr>
          <p:cNvPr id="4" name="dark-share">
            <a:extLst xmlns:a="http://schemas.openxmlformats.org/drawingml/2006/main">
              <a:ext uri="{FF2B5EF4-FFF2-40B4-BE49-F238E27FC236}">
                <a16:creationId xmlns:a16="http://schemas.microsoft.com/office/drawing/2014/main" id="{F6E1F932-BA3B-4A1C-9D7D-1E108712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863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2D2B8"/>
                </a:solidFill>
              </a:defRPr>
            </a:pPr>
            <a:r>
              <a:rPr sz="2550" b="1">
                <a:solidFill>
                  <a:srgbClr val="E2D2B8"/>
                </a:solidFill>
              </a:rPr>
              <a:t>75%</a:t>
            </a:r>
          </a:p>
        </p:txBody>
      </p:sp>
      <p:sp>
        <p:nvSpPr>
          <p:cNvPr id="5" name="dark-share-label">
            <a:extLst xmlns:a="http://schemas.openxmlformats.org/drawingml/2006/main">
              <a:ext uri="{FF2B5EF4-FFF2-40B4-BE49-F238E27FC236}">
                <a16:creationId xmlns:a16="http://schemas.microsoft.com/office/drawing/2014/main" id="{8949E2F4-01C5-413E-8484-A65B1104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472"/>
                </a:solidFill>
              </a:defRPr>
            </a:pPr>
            <a:r>
              <a:rPr sz="1275" b="0">
                <a:solidFill>
                  <a:srgbClr val="6D7472"/>
                </a:solidFill>
              </a:rPr>
              <a:t>Void, Midnight, and Archive</a:t>
            </a:r>
          </a:p>
        </p:txBody>
      </p:sp>
      <p:sp>
        <p:nvSpPr>
          <p:cNvPr id="6" name="bone-share">
            <a:extLst xmlns:a="http://schemas.openxmlformats.org/drawingml/2006/main">
              <a:ext uri="{FF2B5EF4-FFF2-40B4-BE49-F238E27FC236}">
                <a16:creationId xmlns:a16="http://schemas.microsoft.com/office/drawing/2014/main" id="{6C9FF42F-5C9B-42C7-ADC9-11819649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863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2D2B8"/>
                </a:solidFill>
              </a:defRPr>
            </a:pPr>
            <a:r>
              <a:rPr sz="2550" b="1">
                <a:solidFill>
                  <a:srgbClr val="E2D2B8"/>
                </a:solidFill>
              </a:rPr>
              <a:t>18%</a:t>
            </a:r>
          </a:p>
        </p:txBody>
      </p:sp>
      <p:sp>
        <p:nvSpPr>
          <p:cNvPr id="7" name="bone-share-label">
            <a:extLst xmlns:a="http://schemas.openxmlformats.org/drawingml/2006/main">
              <a:ext uri="{FF2B5EF4-FFF2-40B4-BE49-F238E27FC236}">
                <a16:creationId xmlns:a16="http://schemas.microsoft.com/office/drawing/2014/main" id="{6922E974-AA01-436A-BA37-D2DC5CF0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626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472"/>
                </a:solidFill>
              </a:defRPr>
            </a:pPr>
            <a:r>
              <a:rPr sz="1275" b="0">
                <a:solidFill>
                  <a:srgbClr val="6D7472"/>
                </a:solidFill>
              </a:rPr>
              <a:t>Bone for text and space</a:t>
            </a:r>
          </a:p>
        </p:txBody>
      </p:sp>
      <p:sp>
        <p:nvSpPr>
          <p:cNvPr id="8" name="accent-share">
            <a:extLst xmlns:a="http://schemas.openxmlformats.org/drawingml/2006/main">
              <a:ext uri="{FF2B5EF4-FFF2-40B4-BE49-F238E27FC236}">
                <a16:creationId xmlns:a16="http://schemas.microsoft.com/office/drawing/2014/main" id="{7303F0BD-458A-47B8-9AFA-0C464B7D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863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58A25"/>
                </a:solidFill>
              </a:defRPr>
            </a:pPr>
            <a:r>
              <a:rPr sz="2550" b="1">
                <a:solidFill>
                  <a:srgbClr val="D58A25"/>
                </a:solidFill>
              </a:rPr>
              <a:t>7%</a:t>
            </a:r>
          </a:p>
        </p:txBody>
      </p:sp>
      <p:sp>
        <p:nvSpPr>
          <p:cNvPr id="9" name="accent-share-label">
            <a:extLst xmlns:a="http://schemas.openxmlformats.org/drawingml/2006/main">
              <a:ext uri="{FF2B5EF4-FFF2-40B4-BE49-F238E27FC236}">
                <a16:creationId xmlns:a16="http://schemas.microsoft.com/office/drawing/2014/main" id="{256E7BBE-8B8C-45EC-BC15-B9C9CEA9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62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472"/>
                </a:solidFill>
              </a:defRPr>
            </a:pPr>
            <a:r>
              <a:rPr sz="1275" b="0">
                <a:solidFill>
                  <a:srgbClr val="6D7472"/>
                </a:solidFill>
              </a:rPr>
              <a:t>Trace and Oxblood accents</a:t>
            </a:r>
          </a:p>
        </p:txBody>
      </p:sp>
      <p:sp>
        <p:nvSpPr>
          <p:cNvPr id="10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CC105F4-4D67-4DA7-AC34-F7A2FA39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SHAYA / MIDNIGHT ARCHIVE</a:t>
            </a:r>
          </a:p>
        </p:txBody>
      </p:sp>
      <p:sp>
        <p:nvSpPr>
          <p:cNvPr id="1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3C0DAC2-74ED-4F7C-B87B-39FAC0B8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03410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1E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E663B10B-E197-42BA-BA75-FB192A92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2E20"/>
                </a:solidFill>
              </a:defRPr>
            </a:pPr>
            <a:r>
              <a:rPr sz="1125" b="1">
                <a:solidFill>
                  <a:srgbClr val="7C2E20"/>
                </a:solidFill>
              </a:rPr>
              <a:t>06 / TYPOGRAPHY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B704EB-D719-43E7-A1E8-C2727A1C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3"/>
                </a:solidFill>
              </a:defRPr>
            </a:pPr>
            <a:r>
              <a:rPr sz="3150" b="1">
                <a:solidFill>
                  <a:srgbClr val="071013"/>
                </a:solidFill>
              </a:rPr>
              <a:t>Technical, but never mechanical</a:t>
            </a:r>
          </a:p>
        </p:txBody>
      </p:sp>
      <p:sp>
        <p:nvSpPr>
          <p:cNvPr id="3" name="display-sample">
            <a:extLst xmlns:a="http://schemas.openxmlformats.org/drawingml/2006/main">
              <a:ext uri="{FF2B5EF4-FFF2-40B4-BE49-F238E27FC236}">
                <a16:creationId xmlns:a16="http://schemas.microsoft.com/office/drawing/2014/main" id="{F68932F1-2003-437B-A83F-6E264BF2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71013"/>
                </a:solidFill>
              </a:defRPr>
            </a:pPr>
            <a:r>
              <a:rPr sz="3600" b="1">
                <a:solidFill>
                  <a:srgbClr val="071013"/>
                </a:solidFill>
              </a:rPr>
              <a:t>BAHNSCHRIFT</a:t>
            </a:r>
          </a:p>
        </p:txBody>
      </p:sp>
      <p:sp>
        <p:nvSpPr>
          <p:cNvPr id="4" name="display-notes">
            <a:extLst xmlns:a="http://schemas.openxmlformats.org/drawingml/2006/main">
              <a:ext uri="{FF2B5EF4-FFF2-40B4-BE49-F238E27FC236}">
                <a16:creationId xmlns:a16="http://schemas.microsoft.com/office/drawing/2014/main" id="{93EEDEC5-E9BC-4F02-A7EE-CE830C65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4F4B"/>
                </a:solidFill>
              </a:defRPr>
            </a:pPr>
            <a:r>
              <a:rPr sz="1350" b="0">
                <a:solidFill>
                  <a:srgbClr val="4C4F4B"/>
                </a:solidFill>
              </a:rPr>
              <a:t>Display and wordmark</a:t>
            </a:r>
          </a:p>
          <a:p xmlns:a="http://schemas.openxmlformats.org/drawingml/2006/main">
            <a:pPr algn="l">
              <a:defRPr sz="1350" b="0">
                <a:solidFill>
                  <a:srgbClr val="4C4F4B"/>
                </a:solidFill>
              </a:defRPr>
            </a:pPr>
            <a:r>
              <a:rPr sz="1350" b="0">
                <a:solidFill>
                  <a:srgbClr val="4C4F4B"/>
                </a:solidFill>
              </a:rPr>
              <a:t>Uppercase / short lines / moderate tracking</a:t>
            </a:r>
          </a:p>
        </p:txBody>
      </p:sp>
      <p:sp>
        <p:nvSpPr>
          <p:cNvPr id="5" name="body-sample">
            <a:extLst xmlns:a="http://schemas.openxmlformats.org/drawingml/2006/main">
              <a:ext uri="{FF2B5EF4-FFF2-40B4-BE49-F238E27FC236}">
                <a16:creationId xmlns:a16="http://schemas.microsoft.com/office/drawing/2014/main" id="{AA5EB4E5-FC8A-41AE-B739-30A28330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04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3"/>
                </a:solidFill>
              </a:defRPr>
            </a:pPr>
            <a:r>
              <a:rPr sz="3150" b="1">
                <a:solidFill>
                  <a:srgbClr val="071013"/>
                </a:solidFill>
              </a:rPr>
              <a:t>Segoe UI</a:t>
            </a:r>
          </a:p>
        </p:txBody>
      </p:sp>
      <p:sp>
        <p:nvSpPr>
          <p:cNvPr id="6" name="body-notes">
            <a:extLst xmlns:a="http://schemas.openxmlformats.org/drawingml/2006/main">
              <a:ext uri="{FF2B5EF4-FFF2-40B4-BE49-F238E27FC236}">
                <a16:creationId xmlns:a16="http://schemas.microsoft.com/office/drawing/2014/main" id="{A551B8D2-FF28-440B-A732-7BACF923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4F4B"/>
                </a:solidFill>
              </a:defRPr>
            </a:pPr>
            <a:r>
              <a:rPr sz="1500" b="0">
                <a:solidFill>
                  <a:srgbClr val="4C4F4B"/>
                </a:solidFill>
              </a:rPr>
              <a:t>Body copy should use short sentences and clear scope.</a:t>
            </a:r>
          </a:p>
        </p:txBody>
      </p:sp>
      <p:sp>
        <p:nvSpPr>
          <p:cNvPr id="7" name="mono-field">
            <a:extLst xmlns:a="http://schemas.openxmlformats.org/drawingml/2006/main">
              <a:ext uri="{FF2B5EF4-FFF2-40B4-BE49-F238E27FC236}">
                <a16:creationId xmlns:a16="http://schemas.microsoft.com/office/drawing/2014/main" id="{10C36B28-C1D0-4ACB-BCA4-BEAEDD10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53911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ono-sample">
            <a:extLst xmlns:a="http://schemas.openxmlformats.org/drawingml/2006/main">
              <a:ext uri="{FF2B5EF4-FFF2-40B4-BE49-F238E27FC236}">
                <a16:creationId xmlns:a16="http://schemas.microsoft.com/office/drawing/2014/main" id="{F2B06D1A-9724-455D-B3EE-08024C02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58A25"/>
                </a:solidFill>
              </a:defRPr>
            </a:pPr>
            <a:r>
              <a:rPr sz="2250" b="1">
                <a:solidFill>
                  <a:srgbClr val="D58A25"/>
                </a:solidFill>
              </a:rPr>
              <a:t>CASCADIA MONO</a:t>
            </a:r>
          </a:p>
        </p:txBody>
      </p:sp>
      <p:sp>
        <p:nvSpPr>
          <p:cNvPr id="9" name="mono-code">
            <a:extLst xmlns:a="http://schemas.openxmlformats.org/drawingml/2006/main">
              <a:ext uri="{FF2B5EF4-FFF2-40B4-BE49-F238E27FC236}">
                <a16:creationId xmlns:a16="http://schemas.microsoft.com/office/drawing/2014/main" id="{7A85EF1E-22A6-42E5-A8CE-4F60A54B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2D2B8"/>
                </a:solidFill>
              </a:defRPr>
            </a:pPr>
            <a:r>
              <a:rPr sz="1650" b="0">
                <a:solidFill>
                  <a:srgbClr val="E2D2B8"/>
                </a:solidFill>
              </a:rPr>
              <a:t>scope: focused</a:t>
            </a:r>
          </a:p>
          <a:p xmlns:a="http://schemas.openxmlformats.org/drawingml/2006/main">
            <a:pPr algn="l">
              <a:defRPr sz="1650" b="0">
                <a:solidFill>
                  <a:srgbClr val="E2D2B8"/>
                </a:solidFill>
              </a:defRPr>
            </a:pPr>
            <a:r>
              <a:rPr sz="1650" b="0">
                <a:solidFill>
                  <a:srgbClr val="E2D2B8"/>
                </a:solidFill>
              </a:rPr>
              <a:t>result: verified</a:t>
            </a:r>
          </a:p>
          <a:p xmlns:a="http://schemas.openxmlformats.org/drawingml/2006/main">
            <a:pPr algn="l">
              <a:defRPr sz="1650" b="0">
                <a:solidFill>
                  <a:srgbClr val="E2D2B8"/>
                </a:solidFill>
              </a:defRPr>
            </a:pPr>
            <a:r>
              <a:rPr sz="1650" b="0">
                <a:solidFill>
                  <a:srgbClr val="E2D2B8"/>
                </a:solidFill>
              </a:rPr>
              <a:t>claim: bounded</a:t>
            </a:r>
          </a:p>
        </p:txBody>
      </p:sp>
      <p:sp>
        <p:nvSpPr>
          <p:cNvPr id="10" name="mono-notes">
            <a:extLst xmlns:a="http://schemas.openxmlformats.org/drawingml/2006/main">
              <a:ext uri="{FF2B5EF4-FFF2-40B4-BE49-F238E27FC236}">
                <a16:creationId xmlns:a16="http://schemas.microsoft.com/office/drawing/2014/main" id="{F13C8442-7D4A-4BF7-9AF9-68D1BAF7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053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472"/>
                </a:solidFill>
              </a:defRPr>
            </a:pPr>
            <a:r>
              <a:rPr sz="1350" b="0">
                <a:solidFill>
                  <a:srgbClr val="6D7472"/>
                </a:solidFill>
              </a:rPr>
              <a:t>Use for commands, evidence labels, and small technical details.</a:t>
            </a:r>
          </a:p>
        </p:txBody>
      </p:sp>
      <p:sp>
        <p:nvSpPr>
          <p:cNvPr id="11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97C0E39-1FB6-4AFE-966A-5BB3D957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56C"/>
                </a:solidFill>
              </a:defRPr>
            </a:pPr>
            <a:r>
              <a:rPr sz="825" b="0">
                <a:solidFill>
                  <a:srgbClr val="7A756C"/>
                </a:solidFill>
              </a:rPr>
              <a:t>SHAYA / MIDNIGHT ARCHIVE</a:t>
            </a:r>
          </a:p>
        </p:txBody>
      </p:sp>
      <p:sp>
        <p:nvSpPr>
          <p:cNvPr id="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B11C947-A887-4D0B-9AB6-0EE69205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56C"/>
                </a:solidFill>
              </a:defRPr>
            </a:pPr>
            <a:r>
              <a:rPr sz="825" b="0">
                <a:solidFill>
                  <a:srgbClr val="7A75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6932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0B595F29-C6BE-457D-A4B9-5DCD241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8A25"/>
                </a:solidFill>
              </a:defRPr>
            </a:pPr>
            <a:r>
              <a:rPr sz="1125" b="1">
                <a:solidFill>
                  <a:srgbClr val="D58A25"/>
                </a:solidFill>
              </a:rPr>
              <a:t>07 / ILLUSTRATION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9FAE07-82C6-4E48-9E8F-6D38E62C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5143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D2B8"/>
                </a:solidFill>
              </a:defRPr>
            </a:pPr>
            <a:r>
              <a:rPr sz="3150" b="1">
                <a:solidFill>
                  <a:srgbClr val="E2D2B8"/>
                </a:solidFill>
              </a:rPr>
              <a:t>Quiet technical stories</a:t>
            </a:r>
          </a:p>
        </p:txBody>
      </p:sp>
      <p:sp>
        <p:nvSpPr>
          <p:cNvPr id="3" name="illustration-use-title">
            <a:extLst xmlns:a="http://schemas.openxmlformats.org/drawingml/2006/main">
              <a:ext uri="{FF2B5EF4-FFF2-40B4-BE49-F238E27FC236}">
                <a16:creationId xmlns:a16="http://schemas.microsoft.com/office/drawing/2014/main" id="{A868F019-8A1B-4BA8-99FE-7C253968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58A25"/>
                </a:solidFill>
              </a:defRPr>
            </a:pPr>
            <a:r>
              <a:rPr sz="1875" b="1">
                <a:solidFill>
                  <a:srgbClr val="D58A25"/>
                </a:solidFill>
              </a:rPr>
              <a:t>Use</a:t>
            </a:r>
          </a:p>
        </p:txBody>
      </p:sp>
      <p:sp>
        <p:nvSpPr>
          <p:cNvPr id="4" name="illustration-use-copy">
            <a:extLst xmlns:a="http://schemas.openxmlformats.org/drawingml/2006/main">
              <a:ext uri="{FF2B5EF4-FFF2-40B4-BE49-F238E27FC236}">
                <a16:creationId xmlns:a16="http://schemas.microsoft.com/office/drawing/2014/main" id="{F6EBFD23-3FF8-4B9D-AE7F-743E6103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714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2D2B8"/>
                </a:solidFill>
              </a:defRPr>
            </a:pPr>
            <a:r>
              <a:rPr sz="1350" b="0">
                <a:solidFill>
                  <a:srgbClr val="E2D2B8"/>
                </a:solidFill>
              </a:rPr>
              <a:t>- Doorways and arches</a:t>
            </a:r>
          </a:p>
          <a:p xmlns:a="http://schemas.openxmlformats.org/drawingml/2006/main">
            <a:pPr algn="l">
              <a:defRPr sz="1350" b="0">
                <a:solidFill>
                  <a:srgbClr val="E2D2B8"/>
                </a:solidFill>
              </a:defRPr>
            </a:pPr>
            <a:r>
              <a:rPr sz="1350" b="0">
                <a:solidFill>
                  <a:srgbClr val="E2D2B8"/>
                </a:solidFill>
              </a:rPr>
              <a:t>- Quiet rooms and forest paths</a:t>
            </a:r>
          </a:p>
          <a:p xmlns:a="http://schemas.openxmlformats.org/drawingml/2006/main">
            <a:pPr algn="l">
              <a:defRPr sz="1350" b="0">
                <a:solidFill>
                  <a:srgbClr val="E2D2B8"/>
                </a:solidFill>
              </a:defRPr>
            </a:pPr>
            <a:r>
              <a:rPr sz="1350" b="0">
                <a:solidFill>
                  <a:srgbClr val="E2D2B8"/>
                </a:solidFill>
              </a:rPr>
              <a:t>- One controlled light source</a:t>
            </a:r>
          </a:p>
          <a:p xmlns:a="http://schemas.openxmlformats.org/drawingml/2006/main">
            <a:pPr algn="l">
              <a:defRPr sz="1350" b="0">
                <a:solidFill>
                  <a:srgbClr val="E2D2B8"/>
                </a:solidFill>
              </a:defRPr>
            </a:pPr>
            <a:r>
              <a:rPr sz="1350" b="0">
                <a:solidFill>
                  <a:srgbClr val="E2D2B8"/>
                </a:solidFill>
              </a:rPr>
              <a:t>- Matte texture and clear silhouettes</a:t>
            </a:r>
          </a:p>
          <a:p xmlns:a="http://schemas.openxmlformats.org/drawingml/2006/main">
            <a:pPr algn="l">
              <a:defRPr sz="1350" b="0">
                <a:solidFill>
                  <a:srgbClr val="E2D2B8"/>
                </a:solidFill>
              </a:defRPr>
            </a:pPr>
            <a:r>
              <a:rPr sz="1350" b="0">
                <a:solidFill>
                  <a:srgbClr val="E2D2B8"/>
                </a:solidFill>
              </a:rPr>
              <a:t>- Deep shadows with visible detail</a:t>
            </a:r>
          </a:p>
        </p:txBody>
      </p:sp>
      <p:sp>
        <p:nvSpPr>
          <p:cNvPr id="5" name="illustration-avoid-title">
            <a:extLst xmlns:a="http://schemas.openxmlformats.org/drawingml/2006/main">
              <a:ext uri="{FF2B5EF4-FFF2-40B4-BE49-F238E27FC236}">
                <a16:creationId xmlns:a16="http://schemas.microsoft.com/office/drawing/2014/main" id="{C68C86D5-A4F8-424D-A823-FF108C1B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C2E20"/>
                </a:solidFill>
              </a:defRPr>
            </a:pPr>
            <a:r>
              <a:rPr sz="1875" b="1">
                <a:solidFill>
                  <a:srgbClr val="7C2E20"/>
                </a:solidFill>
              </a:rPr>
              <a:t>Avoid</a:t>
            </a:r>
          </a:p>
        </p:txBody>
      </p:sp>
      <p:sp>
        <p:nvSpPr>
          <p:cNvPr id="6" name="illustration-avoid-copy">
            <a:extLst xmlns:a="http://schemas.openxmlformats.org/drawingml/2006/main">
              <a:ext uri="{FF2B5EF4-FFF2-40B4-BE49-F238E27FC236}">
                <a16:creationId xmlns:a16="http://schemas.microsoft.com/office/drawing/2014/main" id="{48C780D2-C788-4B83-A89A-D4308148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472"/>
                </a:solidFill>
              </a:defRPr>
            </a:pPr>
            <a:r>
              <a:rPr sz="1350" b="0">
                <a:solidFill>
                  <a:srgbClr val="6D7472"/>
                </a:solidFill>
              </a:rPr>
              <a:t>Purple AI glow, robots, code rain, glossy 3D, and busy dashboards.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3acf0942c499e"/>
          <a:stretch xmlns:a="http://schemas.openxmlformats.org/drawingml/2006/main"/>
        </p:blipFill>
        <p:spPr>
          <a:xfrm xmlns:a="http://schemas.openxmlformats.org/drawingml/2006/main">
            <a:off x="4931722" y="781050"/>
            <a:ext cx="6481455" cy="5467350"/>
          </a:xfrm>
          <a:prstGeom xmlns:a="http://schemas.openxmlformats.org/drawingml/2006/main" prst="rect">
            <a:avLst/>
          </a:prstGeom>
        </p:spPr>
      </p:pic>
      <p:sp>
        <p:nvSpPr>
          <p:cNvPr id="8" name="reference-note">
            <a:extLst xmlns:a="http://schemas.openxmlformats.org/drawingml/2006/main">
              <a:ext uri="{FF2B5EF4-FFF2-40B4-BE49-F238E27FC236}">
                <a16:creationId xmlns:a16="http://schemas.microsoft.com/office/drawing/2014/main" id="{DFD274C0-C605-4CD8-8B7E-2964C20F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1912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7472"/>
                </a:solidFill>
              </a:defRPr>
            </a:pPr>
            <a:r>
              <a:rPr sz="750" b="0">
                <a:solidFill>
                  <a:srgbClr val="6D7472"/>
                </a:solidFill>
              </a:rPr>
              <a:t>User-provided PinVault references. Use for direction only.</a:t>
            </a:r>
          </a:p>
        </p:txBody>
      </p:sp>
      <p:sp>
        <p:nvSpPr>
          <p:cNvPr id="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C0CBF69-01F1-4179-BE4F-61F97026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SHAYA / MIDNIGHT ARCHIVE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4A6B0F-E7D4-499D-B582-BC4EDC2B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7177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E8D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">
            <a:extLst xmlns:a="http://schemas.openxmlformats.org/drawingml/2006/main">
              <a:ext uri="{FF2B5EF4-FFF2-40B4-BE49-F238E27FC236}">
                <a16:creationId xmlns:a16="http://schemas.microsoft.com/office/drawing/2014/main" id="{8E9EADCE-988A-4D7E-930D-CCC175AB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2E20"/>
                </a:solidFill>
              </a:defRPr>
            </a:pPr>
            <a:r>
              <a:rPr sz="1125" b="1">
                <a:solidFill>
                  <a:srgbClr val="7C2E20"/>
                </a:solidFill>
              </a:rPr>
              <a:t>08 / VOICE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189AFF-ABC7-435B-AEA8-04D9B3B7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71013"/>
                </a:solidFill>
              </a:defRPr>
            </a:pPr>
            <a:r>
              <a:rPr sz="3150" b="1">
                <a:solidFill>
                  <a:srgbClr val="071013"/>
                </a:solidFill>
              </a:rPr>
              <a:t>Calm, direct, and evidence-first</a:t>
            </a:r>
          </a:p>
        </p:txBody>
      </p:sp>
      <p:sp>
        <p:nvSpPr>
          <p:cNvPr id="3" name="voice-use-title">
            <a:extLst xmlns:a="http://schemas.openxmlformats.org/drawingml/2006/main">
              <a:ext uri="{FF2B5EF4-FFF2-40B4-BE49-F238E27FC236}">
                <a16:creationId xmlns:a16="http://schemas.microsoft.com/office/drawing/2014/main" id="{44278A2A-C204-477A-BD7C-98AA98D7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2B24"/>
                </a:solidFill>
              </a:defRPr>
            </a:pPr>
            <a:r>
              <a:rPr sz="1500" b="1">
                <a:solidFill>
                  <a:srgbClr val="132B24"/>
                </a:solidFill>
              </a:rPr>
              <a:t>WRITE LIKE THIS</a:t>
            </a:r>
          </a:p>
        </p:txBody>
      </p:sp>
      <p:sp>
        <p:nvSpPr>
          <p:cNvPr id="4" name="voice-use-copy">
            <a:extLst xmlns:a="http://schemas.openxmlformats.org/drawingml/2006/main">
              <a:ext uri="{FF2B5EF4-FFF2-40B4-BE49-F238E27FC236}">
                <a16:creationId xmlns:a16="http://schemas.microsoft.com/office/drawing/2014/main" id="{C85E0477-6057-417F-9EA5-892749BC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71013"/>
                </a:solidFill>
              </a:defRPr>
            </a:pPr>
            <a:r>
              <a:rPr sz="1575" b="0">
                <a:solidFill>
                  <a:srgbClr val="071013"/>
                </a:solidFill>
              </a:rPr>
              <a:t>"The focused test passed on the current branch."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71013"/>
                </a:solidFill>
              </a:defRPr>
            </a:pPr>
            <a:r>
              <a:rPr sz="1575" b="0">
                <a:solidFill>
                  <a:srgbClr val="071013"/>
                </a:solidFill>
              </a:rPr>
              <a:t>"The result supports the component, not the full live system."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71013"/>
                </a:solidFill>
              </a:defRPr>
            </a:pPr>
            <a:r>
              <a:rPr sz="1575" b="0">
                <a:solidFill>
                  <a:srgbClr val="071013"/>
                </a:solidFill>
              </a:rPr>
              <a:t>"The root cause is not confirmed."</a:t>
            </a:r>
          </a:p>
        </p:txBody>
      </p:sp>
      <p:sp>
        <p:nvSpPr>
          <p:cNvPr id="5" name="voice-avoid-field">
            <a:extLst xmlns:a="http://schemas.openxmlformats.org/drawingml/2006/main">
              <a:ext uri="{FF2B5EF4-FFF2-40B4-BE49-F238E27FC236}">
                <a16:creationId xmlns:a16="http://schemas.microsoft.com/office/drawing/2014/main" id="{9D3EDE35-6CF7-42B5-8ABE-7AE57642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53911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oice-avoid-title">
            <a:extLst xmlns:a="http://schemas.openxmlformats.org/drawingml/2006/main">
              <a:ext uri="{FF2B5EF4-FFF2-40B4-BE49-F238E27FC236}">
                <a16:creationId xmlns:a16="http://schemas.microsoft.com/office/drawing/2014/main" id="{CDDB7D7E-44C7-4D85-A617-9E98B270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2E20"/>
                </a:solidFill>
              </a:defRPr>
            </a:pPr>
            <a:r>
              <a:rPr sz="1500" b="1">
                <a:solidFill>
                  <a:srgbClr val="7C2E20"/>
                </a:solidFill>
              </a:rPr>
              <a:t>DO NOT WRITE LIKE THIS</a:t>
            </a:r>
          </a:p>
        </p:txBody>
      </p:sp>
      <p:sp>
        <p:nvSpPr>
          <p:cNvPr id="7" name="voice-avoid-copy">
            <a:extLst xmlns:a="http://schemas.openxmlformats.org/drawingml/2006/main">
              <a:ext uri="{FF2B5EF4-FFF2-40B4-BE49-F238E27FC236}">
                <a16:creationId xmlns:a16="http://schemas.microsoft.com/office/drawing/2014/main" id="{097623BD-8BAF-47D4-B396-30A76115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191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D2B8"/>
                </a:solidFill>
              </a:defRPr>
            </a:pPr>
            <a:r>
              <a:rPr sz="1575" b="0">
                <a:solidFill>
                  <a:srgbClr val="E2D2B8"/>
                </a:solidFill>
              </a:rPr>
              <a:t>"This revolutionary solution changes everything."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2D2B8"/>
                </a:solidFill>
              </a:defRPr>
            </a:pPr>
            <a:r>
              <a:rPr sz="1575" b="0">
                <a:solidFill>
                  <a:srgbClr val="E2D2B8"/>
                </a:solidFill>
              </a:rPr>
              <a:t>"The system is definitely fixed."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E2D2B8"/>
                </a:solidFill>
              </a:defRPr>
            </a:pPr>
            <a:r>
              <a:rPr sz="1575" b="0">
                <a:solidFill>
                  <a:srgbClr val="E2D2B8"/>
                </a:solidFill>
              </a:rPr>
              <a:t>"No issues exist."</a:t>
            </a:r>
          </a:p>
        </p:txBody>
      </p:sp>
      <p:sp>
        <p:nvSpPr>
          <p:cNvPr id="8" name="voice-rule">
            <a:extLst xmlns:a="http://schemas.openxmlformats.org/drawingml/2006/main">
              <a:ext uri="{FF2B5EF4-FFF2-40B4-BE49-F238E27FC236}">
                <a16:creationId xmlns:a16="http://schemas.microsoft.com/office/drawing/2014/main" id="{182BC35A-8440-46FC-B688-4ACAFDF7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C2E20"/>
                </a:solidFill>
              </a:defRPr>
            </a:pPr>
            <a:r>
              <a:rPr sz="1500" b="1">
                <a:solidFill>
                  <a:srgbClr val="7C2E20"/>
                </a:solidFill>
              </a:rPr>
              <a:t>State the scope of every claim. Separate confirmed facts from inference.</a:t>
            </a:r>
          </a:p>
        </p:txBody>
      </p:sp>
      <p:sp>
        <p:nvSpPr>
          <p:cNvPr id="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BDEB888D-81FF-47DD-95DC-A4F497AF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A756C"/>
                </a:solidFill>
              </a:defRPr>
            </a:pPr>
            <a:r>
              <a:rPr sz="825" b="0">
                <a:solidFill>
                  <a:srgbClr val="7A756C"/>
                </a:solidFill>
              </a:rPr>
              <a:t>SHAYA / MIDNIGHT ARCHIVE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3B336F6-41D0-4F4C-B56B-11686DE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7A756C"/>
                </a:solidFill>
              </a:defRPr>
            </a:pPr>
            <a:r>
              <a:rPr sz="825" b="0">
                <a:solidFill>
                  <a:srgbClr val="7A75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707904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yebrow">
            <a:extLst xmlns:a="http://schemas.openxmlformats.org/drawingml/2006/main">
              <a:ext uri="{FF2B5EF4-FFF2-40B4-BE49-F238E27FC236}">
                <a16:creationId xmlns:a16="http://schemas.microsoft.com/office/drawing/2014/main" id="{D285DD03-7452-47C1-81CE-BC673452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8A25"/>
                </a:solidFill>
              </a:defRPr>
            </a:pPr>
            <a:r>
              <a:rPr sz="1125" b="1">
                <a:solidFill>
                  <a:srgbClr val="D58A25"/>
                </a:solidFill>
              </a:rPr>
              <a:t>09 / GITHUB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46D030-33BE-4B1D-9DEF-7B552206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D2B8"/>
                </a:solidFill>
              </a:defRPr>
            </a:pPr>
            <a:r>
              <a:rPr sz="3150" b="1">
                <a:solidFill>
                  <a:srgbClr val="E2D2B8"/>
                </a:solidFill>
              </a:rPr>
              <a:t>GitHub is the main brand surface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39b62ddbb48e3"/>
          <a:stretch xmlns:a="http://schemas.openxmlformats.org/drawingml/2006/main"/>
        </p:blipFill>
        <p:spPr>
          <a:xfrm xmlns:a="http://schemas.openxmlformats.org/drawingml/2006/main">
            <a:off x="2476500" y="1809750"/>
            <a:ext cx="8763000" cy="32861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4c5a8c3a44d10"/>
          <a:stretch xmlns:a="http://schemas.openxmlformats.org/drawingml/2006/main"/>
        </p:blipFill>
        <p:spPr>
          <a:xfrm xmlns:a="http://schemas.openxmlformats.org/drawingml/2006/main">
            <a:off x="609600" y="3429000"/>
            <a:ext cx="1905000" cy="1905000"/>
          </a:xfrm>
          <a:prstGeom xmlns:a="http://schemas.openxmlformats.org/drawingml/2006/main" prst="rect">
            <a:avLst/>
          </a:prstGeom>
        </p:spPr>
      </p:pic>
      <p:sp>
        <p:nvSpPr>
          <p:cNvPr id="5" name="avatar-rule">
            <a:extLst xmlns:a="http://schemas.openxmlformats.org/drawingml/2006/main">
              <a:ext uri="{FF2B5EF4-FFF2-40B4-BE49-F238E27FC236}">
                <a16:creationId xmlns:a16="http://schemas.microsoft.com/office/drawing/2014/main" id="{110C95CC-C127-417A-A040-43E251CA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619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472"/>
                </a:solidFill>
              </a:defRPr>
            </a:pPr>
            <a:r>
              <a:rPr sz="1275" b="0">
                <a:solidFill>
                  <a:srgbClr val="6D7472"/>
                </a:solidFill>
              </a:rPr>
              <a:t>Avatar: keep the full rounded square.</a:t>
            </a:r>
          </a:p>
        </p:txBody>
      </p:sp>
      <p:sp>
        <p:nvSpPr>
          <p:cNvPr id="6" name="banner-rule">
            <a:extLst xmlns:a="http://schemas.openxmlformats.org/drawingml/2006/main">
              <a:ext uri="{FF2B5EF4-FFF2-40B4-BE49-F238E27FC236}">
                <a16:creationId xmlns:a16="http://schemas.microsoft.com/office/drawing/2014/main" id="{D61B3BE5-03F4-4DD6-A282-0BDFA489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97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D7472"/>
                </a:solidFill>
              </a:defRPr>
            </a:pPr>
            <a:r>
              <a:rPr sz="1275" b="0">
                <a:solidFill>
                  <a:srgbClr val="6D7472"/>
                </a:solidFill>
              </a:rPr>
              <a:t>Banner: keep the original ratio and do not add more text.</a:t>
            </a:r>
          </a:p>
        </p:txBody>
      </p:sp>
      <p:sp>
        <p:nvSpPr>
          <p:cNvPr id="7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EA0A3ACB-8FBC-4B3B-A657-00B3A20F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SHAYA / MIDNIGHT ARCHIVE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BE016E0-2CC4-44F8-A1D2-373ACB4A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9087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0b7d79e0344d0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0" y="0"/>
            <a:ext cx="4762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losing-field">
            <a:extLst xmlns:a="http://schemas.openxmlformats.org/drawingml/2006/main">
              <a:ext uri="{FF2B5EF4-FFF2-40B4-BE49-F238E27FC236}">
                <a16:creationId xmlns:a16="http://schemas.microsoft.com/office/drawing/2014/main" id="{3686B077-BB09-4EC3-94E9-170D7021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01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DC5B49B-CF86-441F-B15B-3DE11BE6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8A25"/>
                </a:solidFill>
              </a:defRPr>
            </a:pPr>
            <a:r>
              <a:rPr sz="1125" b="1">
                <a:solidFill>
                  <a:srgbClr val="D58A25"/>
                </a:solidFill>
              </a:rPr>
              <a:t>10 / QUICK START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7E19D5-9714-4BA2-9E5C-914DFCC06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2D2B8"/>
                </a:solidFill>
              </a:defRPr>
            </a:pPr>
            <a:r>
              <a:rPr sz="3150" b="1">
                <a:solidFill>
                  <a:srgbClr val="E2D2B8"/>
                </a:solidFill>
              </a:rPr>
              <a:t>Apply the system with restraint</a:t>
            </a:r>
          </a:p>
        </p:txBody>
      </p:sp>
      <p:sp>
        <p:nvSpPr>
          <p:cNvPr id="5" name="closing-rules">
            <a:extLst xmlns:a="http://schemas.openxmlformats.org/drawingml/2006/main">
              <a:ext uri="{FF2B5EF4-FFF2-40B4-BE49-F238E27FC236}">
                <a16:creationId xmlns:a16="http://schemas.microsoft.com/office/drawing/2014/main" id="{078519E2-966D-46B9-9EF0-4FA9B99B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810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2D2B8"/>
                </a:solidFill>
              </a:defRPr>
            </a:pPr>
            <a:r>
              <a:rPr sz="1575" b="0">
                <a:solidFill>
                  <a:srgbClr val="E2D2B8"/>
                </a:solidFill>
              </a:rPr>
              <a:t>1. Start with Void or Midnight.</a:t>
            </a:r>
          </a:p>
          <a:p xmlns:a="http://schemas.openxmlformats.org/drawingml/2006/main">
            <a:pPr algn="l">
              <a:defRPr sz="1575" b="0">
                <a:solidFill>
                  <a:srgbClr val="E2D2B8"/>
                </a:solidFill>
              </a:defRPr>
            </a:pPr>
            <a:r>
              <a:rPr sz="1575" b="0">
                <a:solidFill>
                  <a:srgbClr val="E2D2B8"/>
                </a:solidFill>
              </a:rPr>
              <a:t>2. Use Bone for the main message.</a:t>
            </a:r>
          </a:p>
          <a:p xmlns:a="http://schemas.openxmlformats.org/drawingml/2006/main">
            <a:pPr algn="l">
              <a:defRPr sz="1575" b="0">
                <a:solidFill>
                  <a:srgbClr val="E2D2B8"/>
                </a:solidFill>
              </a:defRPr>
            </a:pPr>
            <a:r>
              <a:rPr sz="1575" b="0">
                <a:solidFill>
                  <a:srgbClr val="E2D2B8"/>
                </a:solidFill>
              </a:rPr>
              <a:t>3. Add one Trace path or evidence point.</a:t>
            </a:r>
          </a:p>
          <a:p xmlns:a="http://schemas.openxmlformats.org/drawingml/2006/main">
            <a:pPr algn="l">
              <a:defRPr sz="1575" b="0">
                <a:solidFill>
                  <a:srgbClr val="E2D2B8"/>
                </a:solidFill>
              </a:defRPr>
            </a:pPr>
            <a:r>
              <a:rPr sz="1575" b="0">
                <a:solidFill>
                  <a:srgbClr val="E2D2B8"/>
                </a:solidFill>
              </a:rPr>
              <a:t>4. Use Oxblood only for a threshold or warning.</a:t>
            </a:r>
          </a:p>
          <a:p xmlns:a="http://schemas.openxmlformats.org/drawingml/2006/main">
            <a:pPr algn="l">
              <a:defRPr sz="1575" b="0">
                <a:solidFill>
                  <a:srgbClr val="E2D2B8"/>
                </a:solidFill>
              </a:defRPr>
            </a:pPr>
            <a:r>
              <a:rPr sz="1575" b="0">
                <a:solidFill>
                  <a:srgbClr val="E2D2B8"/>
                </a:solidFill>
              </a:rPr>
              <a:t>5. Keep one clear claim per composition.</a:t>
            </a:r>
          </a:p>
        </p:txBody>
      </p:sp>
      <p:sp>
        <p:nvSpPr>
          <p:cNvPr id="6" name="closing-files-title">
            <a:extLst xmlns:a="http://schemas.openxmlformats.org/drawingml/2006/main">
              <a:ext uri="{FF2B5EF4-FFF2-40B4-BE49-F238E27FC236}">
                <a16:creationId xmlns:a16="http://schemas.microsoft.com/office/drawing/2014/main" id="{0777984E-1B92-4054-8119-613341C4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8A25"/>
                </a:solidFill>
              </a:defRPr>
            </a:pPr>
            <a:r>
              <a:rPr sz="1350" b="1">
                <a:solidFill>
                  <a:srgbClr val="D58A25"/>
                </a:solidFill>
              </a:rPr>
              <a:t>CORE FILES</a:t>
            </a:r>
          </a:p>
        </p:txBody>
      </p:sp>
      <p:sp>
        <p:nvSpPr>
          <p:cNvPr id="7" name="closing-files">
            <a:extLst xmlns:a="http://schemas.openxmlformats.org/drawingml/2006/main">
              <a:ext uri="{FF2B5EF4-FFF2-40B4-BE49-F238E27FC236}">
                <a16:creationId xmlns:a16="http://schemas.microsoft.com/office/drawing/2014/main" id="{4A84F8BB-8F2F-4BF3-89F8-A0E4AA59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571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D7472"/>
                </a:solidFill>
              </a:defRPr>
            </a:pPr>
            <a:r>
              <a:rPr sz="1350" b="0">
                <a:solidFill>
                  <a:srgbClr val="6D7472"/>
                </a:solidFill>
              </a:rPr>
              <a:t>Avatar / README banner / SVG marks / PNG marks</a:t>
            </a:r>
          </a:p>
          <a:p xmlns:a="http://schemas.openxmlformats.org/drawingml/2006/main">
            <a:pPr algn="l">
              <a:defRPr sz="1350" b="0">
                <a:solidFill>
                  <a:srgbClr val="6D7472"/>
                </a:solidFill>
              </a:defRPr>
            </a:pPr>
            <a:r>
              <a:rPr sz="1350" b="0">
                <a:solidFill>
                  <a:srgbClr val="6D7472"/>
                </a:solidFill>
              </a:rPr>
              <a:t>Guidelines PDF / Editable deck / Brand tokens</a:t>
            </a:r>
          </a:p>
        </p:txBody>
      </p:sp>
      <p:sp>
        <p:nvSpPr>
          <p:cNvPr id="8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DC23EA27-932E-4951-A740-C658DABE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2D2B8"/>
                </a:solidFill>
              </a:defRPr>
            </a:pPr>
            <a:r>
              <a:rPr sz="1350" b="1">
                <a:solidFill>
                  <a:srgbClr val="E2D2B8"/>
                </a:solidFill>
              </a:rPr>
              <a:t>ONE LIGHT. ONE PATH. ONE CLEAR CLAIM.</a:t>
            </a:r>
          </a:p>
        </p:txBody>
      </p:sp>
      <p:sp>
        <p:nvSpPr>
          <p:cNvPr id="9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7BF9B26F-24BC-47E1-9039-64D73A16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SHAYA / MIDNIGHT ARCHIVE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5C327E4-559E-4BE8-922E-1E668A78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7472"/>
                </a:solidFill>
              </a:defRPr>
            </a:pPr>
            <a:r>
              <a:rPr sz="825" b="0">
                <a:solidFill>
                  <a:srgbClr val="6D7472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02091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2026-07-31T00:11:51.5630000Z</dcterms:created>
  <dcterms:modified xsi:type="dcterms:W3CDTF">2026-07-31T00:11:51.5630000Z</dcterms:modified>
</coreProperties>
</file>