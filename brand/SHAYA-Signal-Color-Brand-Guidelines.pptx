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f7ff7411434e29" /><Relationship Type="http://schemas.openxmlformats.org/officeDocument/2006/relationships/extended-properties" Target="/docProps/app.xml" Id="R4cb31e3dc46c4ae9" /><Relationship Type="http://schemas.openxmlformats.org/officeDocument/2006/relationships/officeDocument" Target="/ppt/presentation.xml" Id="R5db4c021a43346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b13a21cbb54c23"/>
  </p:sldMasterIdLst>
  <p:notesMasterIdLst>
    <p:notesMasterId xmlns:r="http://schemas.openxmlformats.org/officeDocument/2006/relationships" r:id="R855dcc0481684eb1"/>
  </p:notesMasterIdLst>
  <p:sldIdLst>
    <p:sldId xmlns:r="http://schemas.openxmlformats.org/officeDocument/2006/relationships" id="256" r:id="R66ec6d6f73cf4d06"/>
    <p:sldId xmlns:r="http://schemas.openxmlformats.org/officeDocument/2006/relationships" id="257" r:id="R21eaafbc58634ac5"/>
    <p:sldId xmlns:r="http://schemas.openxmlformats.org/officeDocument/2006/relationships" id="258" r:id="R61a4a87d65fe4881"/>
    <p:sldId xmlns:r="http://schemas.openxmlformats.org/officeDocument/2006/relationships" id="259" r:id="R8e3b6d79d1294d0a"/>
    <p:sldId xmlns:r="http://schemas.openxmlformats.org/officeDocument/2006/relationships" id="260" r:id="Rd5bf4428b74b4fab"/>
    <p:sldId xmlns:r="http://schemas.openxmlformats.org/officeDocument/2006/relationships" id="261" r:id="R38795b96e5d14bc3"/>
    <p:sldId xmlns:r="http://schemas.openxmlformats.org/officeDocument/2006/relationships" id="262" r:id="R73f8976c2be34af2"/>
    <p:sldId xmlns:r="http://schemas.openxmlformats.org/officeDocument/2006/relationships" id="263" r:id="R38128961a3cf4f5b"/>
    <p:sldId xmlns:r="http://schemas.openxmlformats.org/officeDocument/2006/relationships" id="264" r:id="Rd3894a1876f84a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c6201643e64900" /><Relationship Type="http://schemas.openxmlformats.org/officeDocument/2006/relationships/slideMaster" Target="/ppt/slideMasters/slideMaster1.xml" Id="R1cb13a21cbb54c23" /><Relationship Type="http://schemas.openxmlformats.org/officeDocument/2006/relationships/notesMaster" Target="/ppt/notesMasters/notesMaster1.xml" Id="R855dcc0481684eb1" /><Relationship Type="http://schemas.openxmlformats.org/officeDocument/2006/relationships/presProps" Target="/ppt/presProps.xml" Id="Ra56c793800084ac4" /><Relationship Type="http://schemas.openxmlformats.org/officeDocument/2006/relationships/tableStyles" Target="/ppt/tableStyles.xml" Id="R39c5b38a40ee4686" /><Relationship Type="http://schemas.openxmlformats.org/officeDocument/2006/relationships/slide" Target="/ppt/slides/slide1.xml" Id="R66ec6d6f73cf4d06" /><Relationship Type="http://schemas.openxmlformats.org/officeDocument/2006/relationships/slide" Target="/ppt/slides/slide2.xml" Id="R21eaafbc58634ac5" /><Relationship Type="http://schemas.openxmlformats.org/officeDocument/2006/relationships/slide" Target="/ppt/slides/slide3.xml" Id="R61a4a87d65fe4881" /><Relationship Type="http://schemas.openxmlformats.org/officeDocument/2006/relationships/slide" Target="/ppt/slides/slide4.xml" Id="R8e3b6d79d1294d0a" /><Relationship Type="http://schemas.openxmlformats.org/officeDocument/2006/relationships/slide" Target="/ppt/slides/slide5.xml" Id="Rd5bf4428b74b4fab" /><Relationship Type="http://schemas.openxmlformats.org/officeDocument/2006/relationships/slide" Target="/ppt/slides/slide6.xml" Id="R38795b96e5d14bc3" /><Relationship Type="http://schemas.openxmlformats.org/officeDocument/2006/relationships/slide" Target="/ppt/slides/slide7.xml" Id="R73f8976c2be34af2" /><Relationship Type="http://schemas.openxmlformats.org/officeDocument/2006/relationships/slide" Target="/ppt/slides/slide8.xml" Id="R38128961a3cf4f5b" /><Relationship Type="http://schemas.openxmlformats.org/officeDocument/2006/relationships/slide" Target="/ppt/slides/slide9.xml" Id="Rd3894a1876f84a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f83676410a49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9a97a0bce94ac2" /><Relationship Type="http://schemas.openxmlformats.org/officeDocument/2006/relationships/notesMaster" Target="/ppt/notesMasters/notesMaster1.xml" Id="R0a0a3d72f32f42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baebedd5534491" /><Relationship Type="http://schemas.openxmlformats.org/officeDocument/2006/relationships/notesMaster" Target="/ppt/notesMasters/notesMaster1.xml" Id="R905c9bde44ef4f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bbad23936e4cf2" /><Relationship Type="http://schemas.openxmlformats.org/officeDocument/2006/relationships/notesMaster" Target="/ppt/notesMasters/notesMaster1.xml" Id="R3d1ad29062cd4e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457a97e3cb4e95" /><Relationship Type="http://schemas.openxmlformats.org/officeDocument/2006/relationships/notesMaster" Target="/ppt/notesMasters/notesMaster1.xml" Id="Rda6878b8866e47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bfad8abb664bb4" /><Relationship Type="http://schemas.openxmlformats.org/officeDocument/2006/relationships/notesMaster" Target="/ppt/notesMasters/notesMaster1.xml" Id="R894472ae39e04ec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4ae21ef7554aeb" /><Relationship Type="http://schemas.openxmlformats.org/officeDocument/2006/relationships/notesMaster" Target="/ppt/notesMasters/notesMaster1.xml" Id="R60a15e71c8b648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aac19e4f6e4397" /><Relationship Type="http://schemas.openxmlformats.org/officeDocument/2006/relationships/notesMaster" Target="/ppt/notesMasters/notesMaster1.xml" Id="R3b04407447dd43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e5af778c614ce7" /><Relationship Type="http://schemas.openxmlformats.org/officeDocument/2006/relationships/notesMaster" Target="/ppt/notesMasters/notesMaster1.xml" Id="R18c978ae6e8c4e7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47abf252f7454e" /><Relationship Type="http://schemas.openxmlformats.org/officeDocument/2006/relationships/notesMaster" Target="/ppt/notesMasters/notesMaster1.xml" Id="R3099ad2fe19348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6043aea0964a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df709a026d4b38" /><Relationship Type="http://schemas.openxmlformats.org/officeDocument/2006/relationships/slideLayout" Target="/ppt/slideLayouts/slideLayout1.xml" Id="Rd1f5a63cb7d348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f5a63cb7d348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770fa180c40a3" /><Relationship Type="http://schemas.openxmlformats.org/officeDocument/2006/relationships/image" Target="/ppt/media/image.png" Id="R56711c19154b4d9c" /><Relationship Type="http://schemas.openxmlformats.org/officeDocument/2006/relationships/notesSlide" Target="/ppt/notesSlides/notesSlide1.xml" Id="R7fc3f10e246144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42f48ecd94943" /><Relationship Type="http://schemas.openxmlformats.org/officeDocument/2006/relationships/image" Target="/ppt/media/image2.png" Id="Rc1e697257c8e436a" /><Relationship Type="http://schemas.openxmlformats.org/officeDocument/2006/relationships/notesSlide" Target="/ppt/notesSlides/notesSlide2.xml" Id="R9249aa2ad84a42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334b20c2040c8" /><Relationship Type="http://schemas.openxmlformats.org/officeDocument/2006/relationships/image" Target="/ppt/media/image3.png" Id="R7a1f2c66aee44304" /><Relationship Type="http://schemas.openxmlformats.org/officeDocument/2006/relationships/image" Target="/ppt/media/image4.png" Id="Rbe47a7e9c8ca4e4e" /><Relationship Type="http://schemas.openxmlformats.org/officeDocument/2006/relationships/image" Target="/ppt/media/image5.png" Id="Rc2d12e3680674765" /><Relationship Type="http://schemas.openxmlformats.org/officeDocument/2006/relationships/notesSlide" Target="/ppt/notesSlides/notesSlide3.xml" Id="Rb2ef95c037f047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0bbf7a431480b" /><Relationship Type="http://schemas.openxmlformats.org/officeDocument/2006/relationships/notesSlide" Target="/ppt/notesSlides/notesSlide4.xml" Id="Rbd5c5fb3301a4d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439c441bd4fd1" /><Relationship Type="http://schemas.openxmlformats.org/officeDocument/2006/relationships/image" Target="/ppt/media/image6.png" Id="R9e665c21709e4370" /><Relationship Type="http://schemas.openxmlformats.org/officeDocument/2006/relationships/notesSlide" Target="/ppt/notesSlides/notesSlide5.xml" Id="R97daceab240643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94dfa979014549" /><Relationship Type="http://schemas.openxmlformats.org/officeDocument/2006/relationships/image" Target="/ppt/media/image7.png" Id="R13d74751efa640be" /><Relationship Type="http://schemas.openxmlformats.org/officeDocument/2006/relationships/image" Target="/ppt/media/image8.png" Id="R221b0908666b4437" /><Relationship Type="http://schemas.openxmlformats.org/officeDocument/2006/relationships/notesSlide" Target="/ppt/notesSlides/notesSlide6.xml" Id="R4da1becde3be42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d12b57a534d6e" /><Relationship Type="http://schemas.openxmlformats.org/officeDocument/2006/relationships/image" Target="/ppt/media/image9.png" Id="Rb5a8f20b21074891" /><Relationship Type="http://schemas.openxmlformats.org/officeDocument/2006/relationships/image" Target="/ppt/media/image10.png" Id="R1216065c12dc4e62" /><Relationship Type="http://schemas.openxmlformats.org/officeDocument/2006/relationships/notesSlide" Target="/ppt/notesSlides/notesSlide7.xml" Id="R6be8250674ba41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9cb85ba894d60" /><Relationship Type="http://schemas.openxmlformats.org/officeDocument/2006/relationships/image" Target="/ppt/media/image11.png" Id="R7ab5bb24b67b497c" /><Relationship Type="http://schemas.openxmlformats.org/officeDocument/2006/relationships/image" Target="/ppt/media/image12.png" Id="Raaa5a6154a934738" /><Relationship Type="http://schemas.openxmlformats.org/officeDocument/2006/relationships/notesSlide" Target="/ppt/notesSlides/notesSlide8.xml" Id="R755ad01eea1644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82835ff54430f" /><Relationship Type="http://schemas.openxmlformats.org/officeDocument/2006/relationships/image" Target="/ppt/media/image13.png" Id="R5a7678da1eeb4cb2" /><Relationship Type="http://schemas.openxmlformats.org/officeDocument/2006/relationships/notesSlide" Target="/ppt/notesSlides/notesSlide9.xml" Id="R0cbf488b139d4a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231B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711c19154b4d9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4572000"/>
          </a:xfrm>
          <a:prstGeom xmlns:a="http://schemas.openxmlformats.org/drawingml/2006/main" prst="rect">
            <a:avLst/>
          </a:prstGeom>
        </p:spPr>
      </p:pic>
      <p:sp>
        <p:nvSpPr>
          <p:cNvPr id="2" name="cover-band">
            <a:extLst xmlns:a="http://schemas.openxmlformats.org/drawingml/2006/main">
              <a:ext uri="{FF2B5EF4-FFF2-40B4-BE49-F238E27FC236}">
                <a16:creationId xmlns:a16="http://schemas.microsoft.com/office/drawing/2014/main" id="{A69DF1C3-0860-4EAF-BB01-BE38128A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7DA01D6-B7E4-4931-986A-F2AA13F5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0">
                <a:solidFill>
                  <a:srgbClr val="F6F3EC"/>
                </a:solidFill>
              </a:defRPr>
            </a:pPr>
            <a:r>
              <a:rPr sz="4650" b="0">
                <a:solidFill>
                  <a:srgbClr val="F6F3EC"/>
                </a:solidFill>
              </a:rPr>
              <a:t>SIGNAL COLOR</a:t>
            </a:r>
          </a:p>
        </p:txBody>
      </p:sp>
      <p:sp>
        <p:nvSpPr>
          <p:cNvPr id="4" name="cover-version">
            <a:extLst xmlns:a="http://schemas.openxmlformats.org/drawingml/2006/main">
              <a:ext uri="{FF2B5EF4-FFF2-40B4-BE49-F238E27FC236}">
                <a16:creationId xmlns:a16="http://schemas.microsoft.com/office/drawing/2014/main" id="{8576ECC4-F512-4F58-8179-901C849F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67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6F3EC"/>
                </a:solidFill>
              </a:defRPr>
            </a:pPr>
            <a:r>
              <a:rPr sz="1275" b="1">
                <a:solidFill>
                  <a:srgbClr val="F6F3EC"/>
                </a:solidFill>
              </a:rPr>
              <a:t>BRAND GUIDELINES / VERSION 1.0</a:t>
            </a:r>
          </a:p>
        </p:txBody>
      </p:sp>
      <p:sp>
        <p:nvSpPr>
          <p:cNvPr id="5" name="cover-color-1">
            <a:extLst xmlns:a="http://schemas.openxmlformats.org/drawingml/2006/main">
              <a:ext uri="{FF2B5EF4-FFF2-40B4-BE49-F238E27FC236}">
                <a16:creationId xmlns:a16="http://schemas.microsoft.com/office/drawing/2014/main" id="{EBD3FD1E-2024-46B4-B33E-B74145F6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color-2">
            <a:extLst xmlns:a="http://schemas.openxmlformats.org/drawingml/2006/main">
              <a:ext uri="{FF2B5EF4-FFF2-40B4-BE49-F238E27FC236}">
                <a16:creationId xmlns:a16="http://schemas.microsoft.com/office/drawing/2014/main" id="{BBCF2333-82AA-4744-A267-C451EAF1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ver-color-3">
            <a:extLst xmlns:a="http://schemas.openxmlformats.org/drawingml/2006/main">
              <a:ext uri="{FF2B5EF4-FFF2-40B4-BE49-F238E27FC236}">
                <a16:creationId xmlns:a16="http://schemas.microsoft.com/office/drawing/2014/main" id="{C537F33B-361E-4E1F-81E2-17027367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ver-color-4">
            <a:extLst xmlns:a="http://schemas.openxmlformats.org/drawingml/2006/main">
              <a:ext uri="{FF2B5EF4-FFF2-40B4-BE49-F238E27FC236}">
                <a16:creationId xmlns:a16="http://schemas.microsoft.com/office/drawing/2014/main" id="{3C431AFF-7C2F-4576-AFF9-AC729F26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1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color-5">
            <a:extLst xmlns:a="http://schemas.openxmlformats.org/drawingml/2006/main">
              <a:ext uri="{FF2B5EF4-FFF2-40B4-BE49-F238E27FC236}">
                <a16:creationId xmlns:a16="http://schemas.microsoft.com/office/drawing/2014/main" id="{19A65096-7B34-45A9-B8EA-5DF24EFE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505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795094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8C4A168F-F04D-4566-A708-56B3D135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01 / BRAND CORE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ED980F-98C9-4507-AC7C-CF46E22E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7429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51514"/>
                </a:solidFill>
              </a:defRPr>
            </a:pPr>
            <a:r>
              <a:rPr sz="3450" b="0">
                <a:solidFill>
                  <a:srgbClr val="151514"/>
                </a:solidFill>
              </a:rPr>
              <a:t>Curiosity made visible</a:t>
            </a:r>
          </a:p>
        </p:txBody>
      </p:sp>
      <p:sp>
        <p:nvSpPr>
          <p:cNvPr id="3" name="core-mark-field">
            <a:extLst xmlns:a="http://schemas.openxmlformats.org/drawingml/2006/main">
              <a:ext uri="{FF2B5EF4-FFF2-40B4-BE49-F238E27FC236}">
                <a16:creationId xmlns:a16="http://schemas.microsoft.com/office/drawing/2014/main" id="{9B2AAB12-C681-4BCB-A10E-344CBAB8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7147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697257c8e436a"/>
          <a:stretch xmlns:a="http://schemas.openxmlformats.org/drawingml/2006/main"/>
        </p:blipFill>
        <p:spPr>
          <a:xfrm xmlns:a="http://schemas.openxmlformats.org/drawingml/2006/main">
            <a:off x="1466850" y="2424934"/>
            <a:ext cx="2000250" cy="2179583"/>
          </a:xfrm>
          <a:prstGeom xmlns:a="http://schemas.openxmlformats.org/drawingml/2006/main" prst="rect">
            <a:avLst/>
          </a:prstGeom>
        </p:spPr>
      </p:pic>
      <p:sp>
        <p:nvSpPr>
          <p:cNvPr id="5" name="core-tagline">
            <a:extLst xmlns:a="http://schemas.openxmlformats.org/drawingml/2006/main">
              <a:ext uri="{FF2B5EF4-FFF2-40B4-BE49-F238E27FC236}">
                <a16:creationId xmlns:a16="http://schemas.microsoft.com/office/drawing/2014/main" id="{1CF1FFA4-938F-469E-80F8-667806B1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954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151514"/>
                </a:solidFill>
              </a:defRPr>
            </a:pPr>
            <a:r>
              <a:rPr sz="3900" b="0">
                <a:solidFill>
                  <a:srgbClr val="151514"/>
                </a:solidFill>
              </a:rPr>
              <a:t>STAY CURIOUS.</a:t>
            </a:r>
          </a:p>
          <a:p xmlns:a="http://schemas.openxmlformats.org/drawingml/2006/main">
            <a:pPr algn="l">
              <a:defRPr sz="3900" b="0">
                <a:solidFill>
                  <a:srgbClr val="151514"/>
                </a:solidFill>
              </a:defRPr>
            </a:pPr>
            <a:r>
              <a:rPr sz="3900" b="0">
                <a:solidFill>
                  <a:srgbClr val="151514"/>
                </a:solidFill>
              </a:rPr>
              <a:t>LOOK CLOSER.</a:t>
            </a:r>
          </a:p>
        </p:txBody>
      </p:sp>
      <p:sp>
        <p:nvSpPr>
          <p:cNvPr id="6" name="core-description">
            <a:extLst xmlns:a="http://schemas.openxmlformats.org/drawingml/2006/main">
              <a:ext uri="{FF2B5EF4-FFF2-40B4-BE49-F238E27FC236}">
                <a16:creationId xmlns:a16="http://schemas.microsoft.com/office/drawing/2014/main" id="{160C3BAB-2C82-4D3A-98C0-0B155580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14700"/>
            <a:ext cx="581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4"/>
                </a:solidFill>
              </a:defRPr>
            </a:pPr>
            <a:r>
              <a:rPr sz="1650" b="0">
                <a:solidFill>
                  <a:srgbClr val="151514"/>
                </a:solidFill>
              </a:rPr>
              <a:t>Signal Color turns careful observation into a bright, direct visual language. It feels confident without hiding the details.</a:t>
            </a:r>
          </a:p>
        </p:txBody>
      </p:sp>
      <p:sp>
        <p:nvSpPr>
          <p:cNvPr id="7" name="trait-rule-1">
            <a:extLst xmlns:a="http://schemas.openxmlformats.org/drawingml/2006/main">
              <a:ext uri="{FF2B5EF4-FFF2-40B4-BE49-F238E27FC236}">
                <a16:creationId xmlns:a16="http://schemas.microsoft.com/office/drawing/2014/main" id="{C4ED1A7C-9CBB-46F5-BA4D-141E4E9B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48200"/>
            <a:ext cx="1790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rait-title-1">
            <a:extLst xmlns:a="http://schemas.openxmlformats.org/drawingml/2006/main">
              <a:ext uri="{FF2B5EF4-FFF2-40B4-BE49-F238E27FC236}">
                <a16:creationId xmlns:a16="http://schemas.microsoft.com/office/drawing/2014/main" id="{032ECDBF-D57D-4E93-826D-5D9CCD54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958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CURIOUS</a:t>
            </a:r>
          </a:p>
        </p:txBody>
      </p:sp>
      <p:sp>
        <p:nvSpPr>
          <p:cNvPr id="9" name="trait-copy-1">
            <a:extLst xmlns:a="http://schemas.openxmlformats.org/drawingml/2006/main">
              <a:ext uri="{FF2B5EF4-FFF2-40B4-BE49-F238E27FC236}">
                <a16:creationId xmlns:a16="http://schemas.microsoft.com/office/drawing/2014/main" id="{5BB3AB3F-6E0E-4DAC-94FB-F54FF0C2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387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Ask one more useful question.</a:t>
            </a:r>
          </a:p>
        </p:txBody>
      </p:sp>
      <p:sp>
        <p:nvSpPr>
          <p:cNvPr id="10" name="trait-rule-2">
            <a:extLst xmlns:a="http://schemas.openxmlformats.org/drawingml/2006/main">
              <a:ext uri="{FF2B5EF4-FFF2-40B4-BE49-F238E27FC236}">
                <a16:creationId xmlns:a16="http://schemas.microsoft.com/office/drawing/2014/main" id="{759F753B-E64E-4F05-95C1-5A2A2A21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648200"/>
            <a:ext cx="1790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rait-title-2">
            <a:extLst xmlns:a="http://schemas.openxmlformats.org/drawingml/2006/main">
              <a:ext uri="{FF2B5EF4-FFF2-40B4-BE49-F238E27FC236}">
                <a16:creationId xmlns:a16="http://schemas.microsoft.com/office/drawing/2014/main" id="{D0290190-CFDB-4C5B-B63A-FC97F1EE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8958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PRECISE</a:t>
            </a:r>
          </a:p>
        </p:txBody>
      </p:sp>
      <p:sp>
        <p:nvSpPr>
          <p:cNvPr id="12" name="trait-copy-2">
            <a:extLst xmlns:a="http://schemas.openxmlformats.org/drawingml/2006/main">
              <a:ext uri="{FF2B5EF4-FFF2-40B4-BE49-F238E27FC236}">
                <a16:creationId xmlns:a16="http://schemas.microsoft.com/office/drawing/2014/main" id="{7FC41B50-4656-4606-BBF7-EE205EC4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2387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Keep claims clear and testable.</a:t>
            </a:r>
          </a:p>
        </p:txBody>
      </p:sp>
      <p:sp>
        <p:nvSpPr>
          <p:cNvPr id="13" name="trait-rule-3">
            <a:extLst xmlns:a="http://schemas.openxmlformats.org/drawingml/2006/main">
              <a:ext uri="{FF2B5EF4-FFF2-40B4-BE49-F238E27FC236}">
                <a16:creationId xmlns:a16="http://schemas.microsoft.com/office/drawing/2014/main" id="{6F594FD7-46A4-4933-8742-542B7591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648200"/>
            <a:ext cx="1790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rait-title-3">
            <a:extLst xmlns:a="http://schemas.openxmlformats.org/drawingml/2006/main">
              <a:ext uri="{FF2B5EF4-FFF2-40B4-BE49-F238E27FC236}">
                <a16:creationId xmlns:a16="http://schemas.microsoft.com/office/drawing/2014/main" id="{0924AF88-C448-4A61-B4C2-0C45D370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8958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OPTIMISTIC</a:t>
            </a:r>
          </a:p>
        </p:txBody>
      </p:sp>
      <p:sp>
        <p:nvSpPr>
          <p:cNvPr id="15" name="trait-copy-3">
            <a:extLst xmlns:a="http://schemas.openxmlformats.org/drawingml/2006/main">
              <a:ext uri="{FF2B5EF4-FFF2-40B4-BE49-F238E27FC236}">
                <a16:creationId xmlns:a16="http://schemas.microsoft.com/office/drawing/2014/main" id="{3233AD5F-1F34-4FD2-B7BD-EC94989D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2387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Use color to invite attention.</a:t>
            </a:r>
          </a:p>
        </p:txBody>
      </p:sp>
      <p:sp>
        <p:nvSpPr>
          <p:cNvPr id="16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5216672E-2402-405E-BFFB-25CEBC60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SHAYA / SIGNAL COLOR</a:t>
            </a:r>
          </a:p>
        </p:txBody>
      </p:sp>
      <p:sp>
        <p:nvSpPr>
          <p:cNvPr id="17" name="footer-page">
            <a:extLst xmlns:a="http://schemas.openxmlformats.org/drawingml/2006/main">
              <a:ext uri="{FF2B5EF4-FFF2-40B4-BE49-F238E27FC236}">
                <a16:creationId xmlns:a16="http://schemas.microsoft.com/office/drawing/2014/main" id="{71D7EDDF-3E40-430A-B0F2-45D1959F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346117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231B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">
            <a:extLst xmlns:a="http://schemas.openxmlformats.org/drawingml/2006/main">
              <a:ext uri="{FF2B5EF4-FFF2-40B4-BE49-F238E27FC236}">
                <a16:creationId xmlns:a16="http://schemas.microsoft.com/office/drawing/2014/main" id="{A36951A4-7F46-4840-AADD-BA8912D9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02 / LOGO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C99783-DA20-4FFE-9432-39F86C67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F6F3EC"/>
                </a:solidFill>
              </a:defRPr>
            </a:pPr>
            <a:r>
              <a:rPr sz="3450" b="0">
                <a:solidFill>
                  <a:srgbClr val="F6F3EC"/>
                </a:solidFill>
              </a:rPr>
              <a:t>Keep the folded S sharp and simple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f2c66aee44304"/>
          <a:stretch xmlns:a="http://schemas.openxmlformats.org/drawingml/2006/main"/>
        </p:blipFill>
        <p:spPr>
          <a:xfrm xmlns:a="http://schemas.openxmlformats.org/drawingml/2006/main">
            <a:off x="614030" y="1657350"/>
            <a:ext cx="4944140" cy="3543300"/>
          </a:xfrm>
          <a:prstGeom xmlns:a="http://schemas.openxmlformats.org/drawingml/2006/main" prst="rect">
            <a:avLst/>
          </a:prstGeom>
        </p:spPr>
      </p:pic>
      <p:sp>
        <p:nvSpPr>
          <p:cNvPr id="4" name="dark-mark-field">
            <a:extLst xmlns:a="http://schemas.openxmlformats.org/drawingml/2006/main">
              <a:ext uri="{FF2B5EF4-FFF2-40B4-BE49-F238E27FC236}">
                <a16:creationId xmlns:a16="http://schemas.microsoft.com/office/drawing/2014/main" id="{B798E2C0-B266-41EF-ADDA-A5CA4FC7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573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47a7e9c8ca4e4e"/>
          <a:stretch xmlns:a="http://schemas.openxmlformats.org/drawingml/2006/main"/>
        </p:blipFill>
        <p:spPr>
          <a:xfrm xmlns:a="http://schemas.openxmlformats.org/drawingml/2006/main">
            <a:off x="6591300" y="2211542"/>
            <a:ext cx="1238250" cy="1349066"/>
          </a:xfrm>
          <a:prstGeom xmlns:a="http://schemas.openxmlformats.org/drawingml/2006/main" prst="rect">
            <a:avLst/>
          </a:prstGeom>
        </p:spPr>
      </p:pic>
      <p:sp>
        <p:nvSpPr>
          <p:cNvPr id="6" name="light-mark-field">
            <a:extLst xmlns:a="http://schemas.openxmlformats.org/drawingml/2006/main">
              <a:ext uri="{FF2B5EF4-FFF2-40B4-BE49-F238E27FC236}">
                <a16:creationId xmlns:a16="http://schemas.microsoft.com/office/drawing/2014/main" id="{8300AB02-D8CB-4C3A-9F44-6A1217CD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4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d12e3680674765"/>
          <a:stretch xmlns:a="http://schemas.openxmlformats.org/drawingml/2006/main"/>
        </p:blipFill>
        <p:spPr>
          <a:xfrm xmlns:a="http://schemas.openxmlformats.org/drawingml/2006/main">
            <a:off x="9277350" y="2211442"/>
            <a:ext cx="1238250" cy="1349266"/>
          </a:xfrm>
          <a:prstGeom xmlns:a="http://schemas.openxmlformats.org/drawingml/2006/main" prst="rect">
            <a:avLst/>
          </a:prstGeom>
        </p:spPr>
      </p:pic>
      <p:sp>
        <p:nvSpPr>
          <p:cNvPr id="8" name="light-field-label">
            <a:extLst xmlns:a="http://schemas.openxmlformats.org/drawingml/2006/main">
              <a:ext uri="{FF2B5EF4-FFF2-40B4-BE49-F238E27FC236}">
                <a16:creationId xmlns:a16="http://schemas.microsoft.com/office/drawing/2014/main" id="{CBE2B1AF-017E-4C5F-BE07-32ACB5B9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291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6F3EC"/>
                </a:solidFill>
              </a:defRPr>
            </a:pPr>
            <a:r>
              <a:rPr sz="1050" b="1">
                <a:solidFill>
                  <a:srgbClr val="F6F3EC"/>
                </a:solidFill>
              </a:rPr>
              <a:t>LIGHT FIELD</a:t>
            </a:r>
          </a:p>
        </p:txBody>
      </p:sp>
      <p:sp>
        <p:nvSpPr>
          <p:cNvPr id="9" name="dark-field-label">
            <a:extLst xmlns:a="http://schemas.openxmlformats.org/drawingml/2006/main">
              <a:ext uri="{FF2B5EF4-FFF2-40B4-BE49-F238E27FC236}">
                <a16:creationId xmlns:a16="http://schemas.microsoft.com/office/drawing/2014/main" id="{5D620848-29E7-44AD-BB73-73D99C6C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2291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6F3EC"/>
                </a:solidFill>
              </a:defRPr>
            </a:pPr>
            <a:r>
              <a:rPr sz="1050" b="1">
                <a:solidFill>
                  <a:srgbClr val="F6F3EC"/>
                </a:solidFill>
              </a:rPr>
              <a:t>DARK FIELD</a:t>
            </a:r>
          </a:p>
        </p:txBody>
      </p:sp>
      <p:sp>
        <p:nvSpPr>
          <p:cNvPr id="10" name="logo-do-title">
            <a:extLst xmlns:a="http://schemas.openxmlformats.org/drawingml/2006/main">
              <a:ext uri="{FF2B5EF4-FFF2-40B4-BE49-F238E27FC236}">
                <a16:creationId xmlns:a16="http://schemas.microsoft.com/office/drawing/2014/main" id="{B60189D0-D3EC-498A-B1D4-EA36B9A0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577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CAB05"/>
                </a:solidFill>
              </a:defRPr>
            </a:pPr>
            <a:r>
              <a:rPr sz="1575" b="1">
                <a:solidFill>
                  <a:srgbClr val="FCAB05"/>
                </a:solidFill>
              </a:rPr>
              <a:t>DO</a:t>
            </a:r>
          </a:p>
        </p:txBody>
      </p:sp>
      <p:sp>
        <p:nvSpPr>
          <p:cNvPr id="11" name="logo-do-copy">
            <a:extLst xmlns:a="http://schemas.openxmlformats.org/drawingml/2006/main">
              <a:ext uri="{FF2B5EF4-FFF2-40B4-BE49-F238E27FC236}">
                <a16:creationId xmlns:a16="http://schemas.microsoft.com/office/drawing/2014/main" id="{A8BFAF76-DED9-4C25-81AF-B97FCF08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2006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Use the supplied mark. Keep the original proportions. Leave clear space.</a:t>
            </a:r>
          </a:p>
        </p:txBody>
      </p:sp>
      <p:sp>
        <p:nvSpPr>
          <p:cNvPr id="12" name="logo-dont-title">
            <a:extLst xmlns:a="http://schemas.openxmlformats.org/drawingml/2006/main">
              <a:ext uri="{FF2B5EF4-FFF2-40B4-BE49-F238E27FC236}">
                <a16:creationId xmlns:a16="http://schemas.microsoft.com/office/drawing/2014/main" id="{AD47C9BE-1405-4EF0-9AEF-A5124D4A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57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E4B05"/>
                </a:solidFill>
              </a:defRPr>
            </a:pPr>
            <a:r>
              <a:rPr sz="1575" b="1">
                <a:solidFill>
                  <a:srgbClr val="FE4B05"/>
                </a:solidFill>
              </a:rPr>
              <a:t>DO NOT</a:t>
            </a:r>
          </a:p>
        </p:txBody>
      </p:sp>
      <p:sp>
        <p:nvSpPr>
          <p:cNvPr id="13" name="logo-dont-copy">
            <a:extLst xmlns:a="http://schemas.openxmlformats.org/drawingml/2006/main">
              <a:ext uri="{FF2B5EF4-FFF2-40B4-BE49-F238E27FC236}">
                <a16:creationId xmlns:a16="http://schemas.microsoft.com/office/drawing/2014/main" id="{E7E31687-7DD1-4E18-BE58-2EDD7DD7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006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Stretch, rotate, outline, add effects, or rebuild the geometry.</a:t>
            </a:r>
          </a:p>
        </p:txBody>
      </p:sp>
      <p:sp>
        <p:nvSpPr>
          <p:cNvPr id="14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73058E2C-0775-4E19-B38C-1E234450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SHAYA / SIGNAL COLOR</a:t>
            </a:r>
          </a:p>
        </p:txBody>
      </p:sp>
      <p:sp>
        <p:nvSpPr>
          <p:cNvPr id="1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ED02CE8-A491-44B6-A4BF-6D1472A1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711480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eyebrow">
            <a:extLst xmlns:a="http://schemas.openxmlformats.org/drawingml/2006/main">
              <a:ext uri="{FF2B5EF4-FFF2-40B4-BE49-F238E27FC236}">
                <a16:creationId xmlns:a16="http://schemas.microsoft.com/office/drawing/2014/main" id="{1238D31E-3079-4108-8FBF-33CB8089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03 / COLOR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066A3D-6C95-402D-8AFC-2F1DADFF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51514"/>
                </a:solidFill>
              </a:defRPr>
            </a:pPr>
            <a:r>
              <a:rPr sz="3450" b="0">
                <a:solidFill>
                  <a:srgbClr val="151514"/>
                </a:solidFill>
              </a:rPr>
              <a:t>One bold field, then controlled signals</a:t>
            </a:r>
          </a:p>
        </p:txBody>
      </p:sp>
      <p:sp>
        <p:nvSpPr>
          <p:cNvPr id="3" name="color-1">
            <a:extLst xmlns:a="http://schemas.openxmlformats.org/drawingml/2006/main">
              <a:ext uri="{FF2B5EF4-FFF2-40B4-BE49-F238E27FC236}">
                <a16:creationId xmlns:a16="http://schemas.microsoft.com/office/drawing/2014/main" id="{1E5AFF70-ECC6-4F8B-A5E7-1CA5D896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lor-name-1">
            <a:extLst xmlns:a="http://schemas.openxmlformats.org/drawingml/2006/main">
              <a:ext uri="{FF2B5EF4-FFF2-40B4-BE49-F238E27FC236}">
                <a16:creationId xmlns:a16="http://schemas.microsoft.com/office/drawing/2014/main" id="{DC43B52C-1ECD-4E91-ADCA-D2AF69D3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COBALT</a:t>
            </a:r>
          </a:p>
        </p:txBody>
      </p:sp>
      <p:sp>
        <p:nvSpPr>
          <p:cNvPr id="5" name="color-hex-1">
            <a:extLst xmlns:a="http://schemas.openxmlformats.org/drawingml/2006/main">
              <a:ext uri="{FF2B5EF4-FFF2-40B4-BE49-F238E27FC236}">
                <a16:creationId xmlns:a16="http://schemas.microsoft.com/office/drawing/2014/main" id="{3F564D64-48D5-443D-9EA3-37345AD7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#0231B1</a:t>
            </a:r>
          </a:p>
        </p:txBody>
      </p:sp>
      <p:sp>
        <p:nvSpPr>
          <p:cNvPr id="6" name="color-share-1">
            <a:extLst xmlns:a="http://schemas.openxmlformats.org/drawingml/2006/main">
              <a:ext uri="{FF2B5EF4-FFF2-40B4-BE49-F238E27FC236}">
                <a16:creationId xmlns:a16="http://schemas.microsoft.com/office/drawing/2014/main" id="{61F88EFC-B0CE-4399-B024-6CD7765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45%</a:t>
            </a:r>
          </a:p>
        </p:txBody>
      </p:sp>
      <p:sp>
        <p:nvSpPr>
          <p:cNvPr id="7" name="color-2">
            <a:extLst xmlns:a="http://schemas.openxmlformats.org/drawingml/2006/main">
              <a:ext uri="{FF2B5EF4-FFF2-40B4-BE49-F238E27FC236}">
                <a16:creationId xmlns:a16="http://schemas.microsoft.com/office/drawing/2014/main" id="{5EC1F8FF-C8EC-4488-9C08-D43E718E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9525">
            <a:solidFill>
              <a:srgbClr val="C9C5BC"/>
            </a:solidFill>
            <a:prstDash val="solid"/>
          </a:ln>
        </p:spPr>
      </p:sp>
      <p:sp>
        <p:nvSpPr>
          <p:cNvPr id="8" name="color-name-2">
            <a:extLst xmlns:a="http://schemas.openxmlformats.org/drawingml/2006/main">
              <a:ext uri="{FF2B5EF4-FFF2-40B4-BE49-F238E27FC236}">
                <a16:creationId xmlns:a16="http://schemas.microsoft.com/office/drawing/2014/main" id="{61E6D645-85BC-4207-AF4F-3899B627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WARM WHITE</a:t>
            </a:r>
          </a:p>
        </p:txBody>
      </p:sp>
      <p:sp>
        <p:nvSpPr>
          <p:cNvPr id="9" name="color-hex-2">
            <a:extLst xmlns:a="http://schemas.openxmlformats.org/drawingml/2006/main">
              <a:ext uri="{FF2B5EF4-FFF2-40B4-BE49-F238E27FC236}">
                <a16:creationId xmlns:a16="http://schemas.microsoft.com/office/drawing/2014/main" id="{8381D212-F042-4A2A-9937-E80FF3F0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#F6F3EC</a:t>
            </a:r>
          </a:p>
        </p:txBody>
      </p:sp>
      <p:sp>
        <p:nvSpPr>
          <p:cNvPr id="10" name="color-share-2">
            <a:extLst xmlns:a="http://schemas.openxmlformats.org/drawingml/2006/main">
              <a:ext uri="{FF2B5EF4-FFF2-40B4-BE49-F238E27FC236}">
                <a16:creationId xmlns:a16="http://schemas.microsoft.com/office/drawing/2014/main" id="{EB388EAD-4239-4F38-8B6B-A0F386B0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25%</a:t>
            </a:r>
          </a:p>
        </p:txBody>
      </p:sp>
      <p:sp>
        <p:nvSpPr>
          <p:cNvPr id="11" name="color-3">
            <a:extLst xmlns:a="http://schemas.openxmlformats.org/drawingml/2006/main">
              <a:ext uri="{FF2B5EF4-FFF2-40B4-BE49-F238E27FC236}">
                <a16:creationId xmlns:a16="http://schemas.microsoft.com/office/drawing/2014/main" id="{74941EFA-C41D-454D-AA58-5BCCA78A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lor-name-3">
            <a:extLst xmlns:a="http://schemas.openxmlformats.org/drawingml/2006/main">
              <a:ext uri="{FF2B5EF4-FFF2-40B4-BE49-F238E27FC236}">
                <a16:creationId xmlns:a16="http://schemas.microsoft.com/office/drawing/2014/main" id="{1D45615F-77EE-4990-B0B4-2A753E3E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TURQUOISE</a:t>
            </a:r>
          </a:p>
        </p:txBody>
      </p:sp>
      <p:sp>
        <p:nvSpPr>
          <p:cNvPr id="13" name="color-hex-3">
            <a:extLst xmlns:a="http://schemas.openxmlformats.org/drawingml/2006/main">
              <a:ext uri="{FF2B5EF4-FFF2-40B4-BE49-F238E27FC236}">
                <a16:creationId xmlns:a16="http://schemas.microsoft.com/office/drawing/2014/main" id="{32358F46-CC1A-4A95-BE88-EAA098ED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#03AEA9</a:t>
            </a:r>
          </a:p>
        </p:txBody>
      </p:sp>
      <p:sp>
        <p:nvSpPr>
          <p:cNvPr id="14" name="color-share-3">
            <a:extLst xmlns:a="http://schemas.openxmlformats.org/drawingml/2006/main">
              <a:ext uri="{FF2B5EF4-FFF2-40B4-BE49-F238E27FC236}">
                <a16:creationId xmlns:a16="http://schemas.microsoft.com/office/drawing/2014/main" id="{C66CF764-9F88-4BED-8268-C663A26C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10%</a:t>
            </a:r>
          </a:p>
        </p:txBody>
      </p:sp>
      <p:sp>
        <p:nvSpPr>
          <p:cNvPr id="15" name="color-4">
            <a:extLst xmlns:a="http://schemas.openxmlformats.org/drawingml/2006/main">
              <a:ext uri="{FF2B5EF4-FFF2-40B4-BE49-F238E27FC236}">
                <a16:creationId xmlns:a16="http://schemas.microsoft.com/office/drawing/2014/main" id="{DD6FB033-9576-4340-8AF5-9375F8D2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lor-name-4">
            <a:extLst xmlns:a="http://schemas.openxmlformats.org/drawingml/2006/main">
              <a:ext uri="{FF2B5EF4-FFF2-40B4-BE49-F238E27FC236}">
                <a16:creationId xmlns:a16="http://schemas.microsoft.com/office/drawing/2014/main" id="{5E3A495D-6ED4-48BB-A6BA-AED76498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VERMILION</a:t>
            </a:r>
          </a:p>
        </p:txBody>
      </p:sp>
      <p:sp>
        <p:nvSpPr>
          <p:cNvPr id="17" name="color-hex-4">
            <a:extLst xmlns:a="http://schemas.openxmlformats.org/drawingml/2006/main">
              <a:ext uri="{FF2B5EF4-FFF2-40B4-BE49-F238E27FC236}">
                <a16:creationId xmlns:a16="http://schemas.microsoft.com/office/drawing/2014/main" id="{1CDFC86B-8F16-4321-8D01-7533FBF2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#FE4B05</a:t>
            </a:r>
          </a:p>
        </p:txBody>
      </p:sp>
      <p:sp>
        <p:nvSpPr>
          <p:cNvPr id="18" name="color-share-4">
            <a:extLst xmlns:a="http://schemas.openxmlformats.org/drawingml/2006/main">
              <a:ext uri="{FF2B5EF4-FFF2-40B4-BE49-F238E27FC236}">
                <a16:creationId xmlns:a16="http://schemas.microsoft.com/office/drawing/2014/main" id="{62EB0862-2A6A-49D0-B7A7-56AE9822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8%</a:t>
            </a:r>
          </a:p>
        </p:txBody>
      </p:sp>
      <p:sp>
        <p:nvSpPr>
          <p:cNvPr id="19" name="color-5">
            <a:extLst xmlns:a="http://schemas.openxmlformats.org/drawingml/2006/main">
              <a:ext uri="{FF2B5EF4-FFF2-40B4-BE49-F238E27FC236}">
                <a16:creationId xmlns:a16="http://schemas.microsoft.com/office/drawing/2014/main" id="{18E91CC4-D43F-41E6-91E0-DDBCF103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lor-name-5">
            <a:extLst xmlns:a="http://schemas.openxmlformats.org/drawingml/2006/main">
              <a:ext uri="{FF2B5EF4-FFF2-40B4-BE49-F238E27FC236}">
                <a16:creationId xmlns:a16="http://schemas.microsoft.com/office/drawing/2014/main" id="{D98C089B-67DF-45DD-BBC7-8FD79863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MARIGOLD</a:t>
            </a:r>
          </a:p>
        </p:txBody>
      </p:sp>
      <p:sp>
        <p:nvSpPr>
          <p:cNvPr id="21" name="color-hex-5">
            <a:extLst xmlns:a="http://schemas.openxmlformats.org/drawingml/2006/main">
              <a:ext uri="{FF2B5EF4-FFF2-40B4-BE49-F238E27FC236}">
                <a16:creationId xmlns:a16="http://schemas.microsoft.com/office/drawing/2014/main" id="{8769A86B-F3E1-44FE-B449-A6E0E7FE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#FCAB05</a:t>
            </a:r>
          </a:p>
        </p:txBody>
      </p:sp>
      <p:sp>
        <p:nvSpPr>
          <p:cNvPr id="22" name="color-share-5">
            <a:extLst xmlns:a="http://schemas.openxmlformats.org/drawingml/2006/main">
              <a:ext uri="{FF2B5EF4-FFF2-40B4-BE49-F238E27FC236}">
                <a16:creationId xmlns:a16="http://schemas.microsoft.com/office/drawing/2014/main" id="{69C43BC3-801F-4F4E-8A8F-68907562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6%</a:t>
            </a:r>
          </a:p>
        </p:txBody>
      </p:sp>
      <p:sp>
        <p:nvSpPr>
          <p:cNvPr id="23" name="color-6">
            <a:extLst xmlns:a="http://schemas.openxmlformats.org/drawingml/2006/main">
              <a:ext uri="{FF2B5EF4-FFF2-40B4-BE49-F238E27FC236}">
                <a16:creationId xmlns:a16="http://schemas.microsoft.com/office/drawing/2014/main" id="{9F8F3479-1407-4469-9231-511DB010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1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lor-name-6">
            <a:extLst xmlns:a="http://schemas.openxmlformats.org/drawingml/2006/main">
              <a:ext uri="{FF2B5EF4-FFF2-40B4-BE49-F238E27FC236}">
                <a16:creationId xmlns:a16="http://schemas.microsoft.com/office/drawing/2014/main" id="{9E386526-F923-4B25-800F-DD45BE5F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INDIGO</a:t>
            </a:r>
          </a:p>
        </p:txBody>
      </p:sp>
      <p:sp>
        <p:nvSpPr>
          <p:cNvPr id="25" name="color-hex-6">
            <a:extLst xmlns:a="http://schemas.openxmlformats.org/drawingml/2006/main">
              <a:ext uri="{FF2B5EF4-FFF2-40B4-BE49-F238E27FC236}">
                <a16:creationId xmlns:a16="http://schemas.microsoft.com/office/drawing/2014/main" id="{C286323F-F1DD-4411-8CF6-EAC2EC44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#3B1F73</a:t>
            </a:r>
          </a:p>
        </p:txBody>
      </p:sp>
      <p:sp>
        <p:nvSpPr>
          <p:cNvPr id="26" name="color-share-6">
            <a:extLst xmlns:a="http://schemas.openxmlformats.org/drawingml/2006/main">
              <a:ext uri="{FF2B5EF4-FFF2-40B4-BE49-F238E27FC236}">
                <a16:creationId xmlns:a16="http://schemas.microsoft.com/office/drawing/2014/main" id="{CB57B210-F172-4B7A-9929-ABB12058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4%</a:t>
            </a:r>
          </a:p>
        </p:txBody>
      </p:sp>
      <p:sp>
        <p:nvSpPr>
          <p:cNvPr id="27" name="color-7">
            <a:extLst xmlns:a="http://schemas.openxmlformats.org/drawingml/2006/main">
              <a:ext uri="{FF2B5EF4-FFF2-40B4-BE49-F238E27FC236}">
                <a16:creationId xmlns:a16="http://schemas.microsoft.com/office/drawing/2014/main" id="{7B03A947-B078-41E1-B65B-F71C20A1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71650"/>
            <a:ext cx="13716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lor-name-7">
            <a:extLst xmlns:a="http://schemas.openxmlformats.org/drawingml/2006/main">
              <a:ext uri="{FF2B5EF4-FFF2-40B4-BE49-F238E27FC236}">
                <a16:creationId xmlns:a16="http://schemas.microsoft.com/office/drawing/2014/main" id="{3BA06DF8-3AD7-4059-A87D-A4D28647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6291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514"/>
                </a:solidFill>
              </a:defRPr>
            </a:pPr>
            <a:r>
              <a:rPr sz="1350" b="1">
                <a:solidFill>
                  <a:srgbClr val="151514"/>
                </a:solidFill>
              </a:rPr>
              <a:t>INK</a:t>
            </a:r>
          </a:p>
        </p:txBody>
      </p:sp>
      <p:sp>
        <p:nvSpPr>
          <p:cNvPr id="29" name="color-hex-7">
            <a:extLst xmlns:a="http://schemas.openxmlformats.org/drawingml/2006/main">
              <a:ext uri="{FF2B5EF4-FFF2-40B4-BE49-F238E27FC236}">
                <a16:creationId xmlns:a16="http://schemas.microsoft.com/office/drawing/2014/main" id="{77C7D7F5-A5F5-49BD-A610-A35B7854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9911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#151514</a:t>
            </a:r>
          </a:p>
        </p:txBody>
      </p:sp>
      <p:sp>
        <p:nvSpPr>
          <p:cNvPr id="30" name="color-share-7">
            <a:extLst xmlns:a="http://schemas.openxmlformats.org/drawingml/2006/main">
              <a:ext uri="{FF2B5EF4-FFF2-40B4-BE49-F238E27FC236}">
                <a16:creationId xmlns:a16="http://schemas.microsoft.com/office/drawing/2014/main" id="{3EB7F0AC-C0B1-4EBC-8205-EC00FBB8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149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514"/>
                </a:solidFill>
              </a:defRPr>
            </a:pPr>
            <a:r>
              <a:rPr sz="1800" b="0">
                <a:solidFill>
                  <a:srgbClr val="151514"/>
                </a:solidFill>
              </a:rPr>
              <a:t>2%</a:t>
            </a:r>
          </a:p>
        </p:txBody>
      </p:sp>
      <p:sp>
        <p:nvSpPr>
          <p:cNvPr id="31" name="color-guidance">
            <a:extLst xmlns:a="http://schemas.openxmlformats.org/drawingml/2006/main">
              <a:ext uri="{FF2B5EF4-FFF2-40B4-BE49-F238E27FC236}">
                <a16:creationId xmlns:a16="http://schemas.microsoft.com/office/drawing/2014/main" id="{2E43DF4A-107D-42C4-A3FD-41EA4E95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514"/>
                </a:solidFill>
              </a:defRPr>
            </a:pPr>
            <a:r>
              <a:rPr sz="1350" b="0">
                <a:solidFill>
                  <a:srgbClr val="151514"/>
                </a:solidFill>
              </a:rPr>
              <a:t>Use Cobalt or Warm White as the main field. Use one or two signal colors per composition. Reserve Ink for text and high-contrast details.</a:t>
            </a:r>
          </a:p>
        </p:txBody>
      </p:sp>
      <p:sp>
        <p:nvSpPr>
          <p:cNvPr id="32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4357227C-0863-4FF5-941C-75DD7834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SHAYA / SIGNAL COLOR</a:t>
            </a:r>
          </a:p>
        </p:txBody>
      </p:sp>
      <p:sp>
        <p:nvSpPr>
          <p:cNvPr id="33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0018011-3F00-43CC-B84B-319B252C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503481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231B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6D215F5A-BA47-4D2B-95C8-452CFDDA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04 / TYPOGRAPHY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E2B82E5-AEB0-450B-9731-39F25C6F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F6F3EC"/>
                </a:solidFill>
              </a:defRPr>
            </a:pPr>
            <a:r>
              <a:rPr sz="3450" b="0">
                <a:solidFill>
                  <a:srgbClr val="F6F3EC"/>
                </a:solidFill>
              </a:rPr>
              <a:t>Condensed display type carries the signal</a:t>
            </a:r>
          </a:p>
        </p:txBody>
      </p:sp>
      <p:sp>
        <p:nvSpPr>
          <p:cNvPr id="3" name="display-specimen">
            <a:extLst xmlns:a="http://schemas.openxmlformats.org/drawingml/2006/main">
              <a:ext uri="{FF2B5EF4-FFF2-40B4-BE49-F238E27FC236}">
                <a16:creationId xmlns:a16="http://schemas.microsoft.com/office/drawing/2014/main" id="{FBDA270F-499A-404C-B706-15445585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61912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0" b="0">
                <a:solidFill>
                  <a:srgbClr val="F6F3EC"/>
                </a:solidFill>
              </a:defRPr>
            </a:pPr>
            <a:r>
              <a:rPr sz="9900" b="0">
                <a:solidFill>
                  <a:srgbClr val="F6F3EC"/>
                </a:solidFill>
              </a:rPr>
              <a:t>SHAYA</a:t>
            </a:r>
          </a:p>
        </p:txBody>
      </p:sp>
      <p:sp>
        <p:nvSpPr>
          <p:cNvPr id="4" name="display-type-cover">
            <a:extLst xmlns:a="http://schemas.openxmlformats.org/drawingml/2006/main">
              <a:ext uri="{FF2B5EF4-FFF2-40B4-BE49-F238E27FC236}">
                <a16:creationId xmlns:a16="http://schemas.microsoft.com/office/drawing/2014/main" id="{4292BEAF-99DB-4161-A693-AB01613D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6191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65c21709e4370"/>
          <a:stretch xmlns:a="http://schemas.openxmlformats.org/drawingml/2006/main"/>
        </p:blipFill>
        <p:spPr>
          <a:xfrm xmlns:a="http://schemas.openxmlformats.org/drawingml/2006/main">
            <a:off x="850371" y="1638300"/>
            <a:ext cx="5709708" cy="1581150"/>
          </a:xfrm>
          <a:prstGeom xmlns:a="http://schemas.openxmlformats.org/drawingml/2006/main" prst="rect">
            <a:avLst/>
          </a:prstGeom>
        </p:spPr>
      </p:pic>
      <p:sp>
        <p:nvSpPr>
          <p:cNvPr id="6" name="display-label">
            <a:extLst xmlns:a="http://schemas.openxmlformats.org/drawingml/2006/main">
              <a:ext uri="{FF2B5EF4-FFF2-40B4-BE49-F238E27FC236}">
                <a16:creationId xmlns:a16="http://schemas.microsoft.com/office/drawing/2014/main" id="{E7410799-F7EA-49D8-8FDC-7A06FBF2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3AEA9"/>
                </a:solidFill>
              </a:defRPr>
            </a:pPr>
            <a:r>
              <a:rPr sz="1125" b="1">
                <a:solidFill>
                  <a:srgbClr val="03AEA9"/>
                </a:solidFill>
              </a:rPr>
              <a:t>DISPLAY / IMPACT / ALL CAPS</a:t>
            </a:r>
          </a:p>
        </p:txBody>
      </p:sp>
      <p:sp>
        <p:nvSpPr>
          <p:cNvPr id="7" name="tagline-specimen">
            <a:extLst xmlns:a="http://schemas.openxmlformats.org/drawingml/2006/main">
              <a:ext uri="{FF2B5EF4-FFF2-40B4-BE49-F238E27FC236}">
                <a16:creationId xmlns:a16="http://schemas.microsoft.com/office/drawing/2014/main" id="{1E32A99B-4F29-42C0-AD66-B665AF1A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14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6F3EC"/>
                </a:solidFill>
              </a:defRPr>
            </a:pPr>
            <a:r>
              <a:rPr sz="2850" b="1">
                <a:solidFill>
                  <a:srgbClr val="F6F3EC"/>
                </a:solidFill>
              </a:rPr>
              <a:t>STAY CURIOUS. LOOK CLOSER.</a:t>
            </a:r>
          </a:p>
        </p:txBody>
      </p:sp>
      <p:sp>
        <p:nvSpPr>
          <p:cNvPr id="8" name="tagline-label">
            <a:extLst xmlns:a="http://schemas.openxmlformats.org/drawingml/2006/main">
              <a:ext uri="{FF2B5EF4-FFF2-40B4-BE49-F238E27FC236}">
                <a16:creationId xmlns:a16="http://schemas.microsoft.com/office/drawing/2014/main" id="{D4B28BD9-3C05-494C-95AE-75890B2F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TAGLINE AND LABELS / ARIAL NARROW BOLD</a:t>
            </a:r>
          </a:p>
        </p:txBody>
      </p:sp>
      <p:sp>
        <p:nvSpPr>
          <p:cNvPr id="9" name="body-type-field">
            <a:extLst xmlns:a="http://schemas.openxmlformats.org/drawingml/2006/main">
              <a:ext uri="{FF2B5EF4-FFF2-40B4-BE49-F238E27FC236}">
                <a16:creationId xmlns:a16="http://schemas.microsoft.com/office/drawing/2014/main" id="{F29A37B8-0E7D-4917-9B04-10E429A3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95450"/>
            <a:ext cx="31432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ody-title">
            <a:extLst xmlns:a="http://schemas.openxmlformats.org/drawingml/2006/main">
              <a:ext uri="{FF2B5EF4-FFF2-40B4-BE49-F238E27FC236}">
                <a16:creationId xmlns:a16="http://schemas.microsoft.com/office/drawing/2014/main" id="{4149A99F-21A0-44A1-87F5-E55C3364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955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E4B05"/>
                </a:solidFill>
              </a:defRPr>
            </a:pPr>
            <a:r>
              <a:rPr sz="1650" b="1">
                <a:solidFill>
                  <a:srgbClr val="FE4B05"/>
                </a:solidFill>
              </a:rPr>
              <a:t>BODY</a:t>
            </a:r>
          </a:p>
        </p:txBody>
      </p:sp>
      <p:sp>
        <p:nvSpPr>
          <p:cNvPr id="11" name="body-specimen">
            <a:extLst xmlns:a="http://schemas.openxmlformats.org/drawingml/2006/main">
              <a:ext uri="{FF2B5EF4-FFF2-40B4-BE49-F238E27FC236}">
                <a16:creationId xmlns:a16="http://schemas.microsoft.com/office/drawing/2014/main" id="{080B078B-948F-480B-A601-779E9684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28900"/>
            <a:ext cx="2381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4"/>
                </a:solidFill>
              </a:defRPr>
            </a:pPr>
            <a:r>
              <a:rPr sz="1500" b="0">
                <a:solidFill>
                  <a:srgbClr val="151514"/>
                </a:solidFill>
              </a:rPr>
              <a:t>Use Arial for readable explanations. Keep sentences short. Keep one clear idea in each paragraph.</a:t>
            </a:r>
          </a:p>
        </p:txBody>
      </p:sp>
      <p:sp>
        <p:nvSpPr>
          <p:cNvPr id="12" name="mono-title">
            <a:extLst xmlns:a="http://schemas.openxmlformats.org/drawingml/2006/main">
              <a:ext uri="{FF2B5EF4-FFF2-40B4-BE49-F238E27FC236}">
                <a16:creationId xmlns:a16="http://schemas.microsoft.com/office/drawing/2014/main" id="{749AAD19-841B-4775-966E-A8B3A984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0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3AEA9"/>
                </a:solidFill>
              </a:defRPr>
            </a:pPr>
            <a:r>
              <a:rPr sz="1650" b="1">
                <a:solidFill>
                  <a:srgbClr val="03AEA9"/>
                </a:solidFill>
              </a:rPr>
              <a:t>MONO</a:t>
            </a:r>
          </a:p>
        </p:txBody>
      </p:sp>
      <p:sp>
        <p:nvSpPr>
          <p:cNvPr id="13" name="mono-specimen">
            <a:extLst xmlns:a="http://schemas.openxmlformats.org/drawingml/2006/main">
              <a:ext uri="{FF2B5EF4-FFF2-40B4-BE49-F238E27FC236}">
                <a16:creationId xmlns:a16="http://schemas.microsoft.com/office/drawing/2014/main" id="{C028E16A-390E-4D91-8057-F13D97B1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43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1514"/>
                </a:solidFill>
              </a:defRPr>
            </a:pPr>
            <a:r>
              <a:rPr sz="1275" b="1">
                <a:solidFill>
                  <a:srgbClr val="151514"/>
                </a:solidFill>
              </a:rPr>
              <a:t>VERIFY / TEST / SHIP</a:t>
            </a:r>
          </a:p>
        </p:txBody>
      </p:sp>
      <p:sp>
        <p:nvSpPr>
          <p:cNvPr id="14" name="mono-copy">
            <a:extLst xmlns:a="http://schemas.openxmlformats.org/drawingml/2006/main">
              <a:ext uri="{FF2B5EF4-FFF2-40B4-BE49-F238E27FC236}">
                <a16:creationId xmlns:a16="http://schemas.microsoft.com/office/drawing/2014/main" id="{FEEFDB62-8746-4E4C-967A-487DC672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2006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6B70"/>
                </a:solidFill>
              </a:defRPr>
            </a:pPr>
            <a:r>
              <a:rPr sz="1125" b="0">
                <a:solidFill>
                  <a:srgbClr val="686B70"/>
                </a:solidFill>
              </a:rPr>
              <a:t>Use Cascadia Mono for code, file paths, values, and technical labels.</a:t>
            </a:r>
          </a:p>
        </p:txBody>
      </p:sp>
      <p:sp>
        <p:nvSpPr>
          <p:cNvPr id="15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FB26E707-7369-4B7C-A593-9311B662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SHAYA / SIGNAL COLOR</a:t>
            </a:r>
          </a:p>
        </p:txBody>
      </p:sp>
      <p:sp>
        <p:nvSpPr>
          <p:cNvPr id="1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D57BBA1-E855-46B9-B611-3E858ECA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520891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515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">
            <a:extLst xmlns:a="http://schemas.openxmlformats.org/drawingml/2006/main">
              <a:ext uri="{FF2B5EF4-FFF2-40B4-BE49-F238E27FC236}">
                <a16:creationId xmlns:a16="http://schemas.microsoft.com/office/drawing/2014/main" id="{8EB0711B-FF75-45DD-968F-746D251D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05 / ILLUSTRATION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1CA9CD-7780-411C-93D0-0495EFBD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F6F3EC"/>
                </a:solidFill>
              </a:defRPr>
            </a:pPr>
            <a:r>
              <a:rPr sz="3450" b="0">
                <a:solidFill>
                  <a:srgbClr val="F6F3EC"/>
                </a:solidFill>
              </a:rPr>
              <a:t>Build worlds from flat geometry and small clues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74751efa640be"/>
          <a:stretch xmlns:a="http://schemas.openxmlformats.org/drawingml/2006/main"/>
        </p:blipFill>
        <p:spPr>
          <a:xfrm xmlns:a="http://schemas.openxmlformats.org/drawingml/2006/main">
            <a:off x="609600" y="1619250"/>
            <a:ext cx="6858000" cy="25717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b0908666b4437"/>
          <a:srcRect xmlns:a="http://schemas.openxmlformats.org/drawingml/2006/main" l="192" t="0" r="19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29550" y="1619250"/>
            <a:ext cx="3714750" cy="2571750"/>
          </a:xfrm>
          <a:prstGeom xmlns:a="http://schemas.openxmlformats.org/drawingml/2006/main" prst="rect">
            <a:avLst/>
          </a:prstGeom>
        </p:spPr>
      </p:pic>
      <p:sp>
        <p:nvSpPr>
          <p:cNvPr id="5" name="illustration-rule-1">
            <a:extLst xmlns:a="http://schemas.openxmlformats.org/drawingml/2006/main">
              <a:ext uri="{FF2B5EF4-FFF2-40B4-BE49-F238E27FC236}">
                <a16:creationId xmlns:a16="http://schemas.microsoft.com/office/drawing/2014/main" id="{EEEF5C5C-3B1D-414D-B456-2E99306E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276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illustration-title-1">
            <a:extLst xmlns:a="http://schemas.openxmlformats.org/drawingml/2006/main">
              <a:ext uri="{FF2B5EF4-FFF2-40B4-BE49-F238E27FC236}">
                <a16:creationId xmlns:a16="http://schemas.microsoft.com/office/drawing/2014/main" id="{8199F3E7-EE17-4A3D-BE0E-99818549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3EC"/>
                </a:solidFill>
              </a:defRPr>
            </a:pPr>
            <a:r>
              <a:rPr sz="1650" b="1">
                <a:solidFill>
                  <a:srgbClr val="F6F3EC"/>
                </a:solidFill>
              </a:rPr>
              <a:t>FLAT GEOMETRY</a:t>
            </a:r>
          </a:p>
        </p:txBody>
      </p:sp>
      <p:sp>
        <p:nvSpPr>
          <p:cNvPr id="7" name="illustration-copy-1">
            <a:extLst xmlns:a="http://schemas.openxmlformats.org/drawingml/2006/main">
              <a:ext uri="{FF2B5EF4-FFF2-40B4-BE49-F238E27FC236}">
                <a16:creationId xmlns:a16="http://schemas.microsoft.com/office/drawing/2014/main" id="{D7376F43-5EDC-4CC9-8015-F710E7F1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327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Use crisp planes, bold perspective, and simple silhouettes.</a:t>
            </a:r>
          </a:p>
        </p:txBody>
      </p:sp>
      <p:sp>
        <p:nvSpPr>
          <p:cNvPr id="8" name="illustration-rule-2">
            <a:extLst xmlns:a="http://schemas.openxmlformats.org/drawingml/2006/main">
              <a:ext uri="{FF2B5EF4-FFF2-40B4-BE49-F238E27FC236}">
                <a16:creationId xmlns:a16="http://schemas.microsoft.com/office/drawing/2014/main" id="{39650EBA-7D07-4002-884A-C09EFDD6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667250"/>
            <a:ext cx="3276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illustration-title-2">
            <a:extLst xmlns:a="http://schemas.openxmlformats.org/drawingml/2006/main">
              <a:ext uri="{FF2B5EF4-FFF2-40B4-BE49-F238E27FC236}">
                <a16:creationId xmlns:a16="http://schemas.microsoft.com/office/drawing/2014/main" id="{C52DD5FB-1E74-4645-8636-14C9824D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9720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3EC"/>
                </a:solidFill>
              </a:defRPr>
            </a:pPr>
            <a:r>
              <a:rPr sz="1650" b="1">
                <a:solidFill>
                  <a:srgbClr val="F6F3EC"/>
                </a:solidFill>
              </a:rPr>
              <a:t>PRINT GRAIN</a:t>
            </a:r>
          </a:p>
        </p:txBody>
      </p:sp>
      <p:sp>
        <p:nvSpPr>
          <p:cNvPr id="10" name="illustration-copy-2">
            <a:extLst xmlns:a="http://schemas.openxmlformats.org/drawingml/2006/main">
              <a:ext uri="{FF2B5EF4-FFF2-40B4-BE49-F238E27FC236}">
                <a16:creationId xmlns:a16="http://schemas.microsoft.com/office/drawing/2014/main" id="{DA481659-6D5A-4306-B9B0-37D8CDC9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53050"/>
            <a:ext cx="327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Add subtle paper or screen-print texture. Keep edges readable.</a:t>
            </a:r>
          </a:p>
        </p:txBody>
      </p:sp>
      <p:sp>
        <p:nvSpPr>
          <p:cNvPr id="11" name="illustration-rule-3">
            <a:extLst xmlns:a="http://schemas.openxmlformats.org/drawingml/2006/main">
              <a:ext uri="{FF2B5EF4-FFF2-40B4-BE49-F238E27FC236}">
                <a16:creationId xmlns:a16="http://schemas.microsoft.com/office/drawing/2014/main" id="{ECBBC9D0-61A2-49BC-B407-C57F5903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67250"/>
            <a:ext cx="3276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llustration-title-3">
            <a:extLst xmlns:a="http://schemas.openxmlformats.org/drawingml/2006/main">
              <a:ext uri="{FF2B5EF4-FFF2-40B4-BE49-F238E27FC236}">
                <a16:creationId xmlns:a16="http://schemas.microsoft.com/office/drawing/2014/main" id="{E0ADAD29-1037-42D2-9D0D-3CA10434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720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3EC"/>
                </a:solidFill>
              </a:defRPr>
            </a:pPr>
            <a:r>
              <a:rPr sz="1650" b="1">
                <a:solidFill>
                  <a:srgbClr val="F6F3EC"/>
                </a:solidFill>
              </a:rPr>
              <a:t>SMALL CLUES</a:t>
            </a:r>
          </a:p>
        </p:txBody>
      </p:sp>
      <p:sp>
        <p:nvSpPr>
          <p:cNvPr id="13" name="illustration-copy-3">
            <a:extLst xmlns:a="http://schemas.openxmlformats.org/drawingml/2006/main">
              <a:ext uri="{FF2B5EF4-FFF2-40B4-BE49-F238E27FC236}">
                <a16:creationId xmlns:a16="http://schemas.microsoft.com/office/drawing/2014/main" id="{0A0C772D-AE59-4D56-B7B5-CBB8EEA6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53050"/>
            <a:ext cx="3276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C"/>
                </a:solidFill>
              </a:defRPr>
            </a:pPr>
            <a:r>
              <a:rPr sz="1275" b="0">
                <a:solidFill>
                  <a:srgbClr val="F6F3EC"/>
                </a:solidFill>
              </a:rPr>
              <a:t>Reward a second look with one quiet person, animal, or trace.</a:t>
            </a:r>
          </a:p>
        </p:txBody>
      </p:sp>
      <p:sp>
        <p:nvSpPr>
          <p:cNvPr id="14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E0A20D0F-8558-4CCE-B292-7856B1D7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SHAYA / SIGNAL COLOR</a:t>
            </a:r>
          </a:p>
        </p:txBody>
      </p:sp>
      <p:sp>
        <p:nvSpPr>
          <p:cNvPr id="1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0F4C920-DC9E-4F95-8A4D-5F0AE145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062379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yebrow">
            <a:extLst xmlns:a="http://schemas.openxmlformats.org/drawingml/2006/main">
              <a:ext uri="{FF2B5EF4-FFF2-40B4-BE49-F238E27FC236}">
                <a16:creationId xmlns:a16="http://schemas.microsoft.com/office/drawing/2014/main" id="{3B344166-0CAF-4FB4-B555-D55BE239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06 / MOTION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7589C1-6A20-4947-AF9E-44B5138D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51514"/>
                </a:solidFill>
              </a:defRPr>
            </a:pPr>
            <a:r>
              <a:rPr sz="3450" b="0">
                <a:solidFill>
                  <a:srgbClr val="151514"/>
                </a:solidFill>
              </a:rPr>
              <a:t>Move slowly enough to reveal the detail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8f20b21074891"/>
          <a:stretch xmlns:a="http://schemas.openxmlformats.org/drawingml/2006/main"/>
        </p:blipFill>
        <p:spPr>
          <a:xfrm xmlns:a="http://schemas.openxmlformats.org/drawingml/2006/main">
            <a:off x="609600" y="1657350"/>
            <a:ext cx="4953000" cy="185737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6065c12dc4e62"/>
          <a:stretch xmlns:a="http://schemas.openxmlformats.org/drawingml/2006/main"/>
        </p:blipFill>
        <p:spPr>
          <a:xfrm xmlns:a="http://schemas.openxmlformats.org/drawingml/2006/main">
            <a:off x="6629400" y="1657350"/>
            <a:ext cx="4953000" cy="1857375"/>
          </a:xfrm>
          <a:prstGeom xmlns:a="http://schemas.openxmlformats.org/drawingml/2006/main" prst="rect">
            <a:avLst/>
          </a:prstGeom>
        </p:spPr>
      </p:pic>
      <p:sp>
        <p:nvSpPr>
          <p:cNvPr id="5" name="establish-label">
            <a:extLst xmlns:a="http://schemas.openxmlformats.org/drawingml/2006/main">
              <a:ext uri="{FF2B5EF4-FFF2-40B4-BE49-F238E27FC236}">
                <a16:creationId xmlns:a16="http://schemas.microsoft.com/office/drawing/2014/main" id="{AA5609D3-D4E4-4DCC-8980-C453428F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231B1"/>
                </a:solidFill>
              </a:defRPr>
            </a:pPr>
            <a:r>
              <a:rPr sz="1125" b="1">
                <a:solidFill>
                  <a:srgbClr val="0231B1"/>
                </a:solidFill>
              </a:rPr>
              <a:t>01 / ESTABLISH</a:t>
            </a:r>
          </a:p>
        </p:txBody>
      </p:sp>
      <p:sp>
        <p:nvSpPr>
          <p:cNvPr id="6" name="detail-label">
            <a:extLst xmlns:a="http://schemas.openxmlformats.org/drawingml/2006/main">
              <a:ext uri="{FF2B5EF4-FFF2-40B4-BE49-F238E27FC236}">
                <a16:creationId xmlns:a16="http://schemas.microsoft.com/office/drawing/2014/main" id="{4BBD8925-44D6-4CD9-A454-050015A1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02 / LOOK CLOSER</a:t>
            </a:r>
          </a:p>
        </p:txBody>
      </p:sp>
      <p:sp>
        <p:nvSpPr>
          <p:cNvPr id="7" name="motion-stage-1">
            <a:extLst xmlns:a="http://schemas.openxmlformats.org/drawingml/2006/main">
              <a:ext uri="{FF2B5EF4-FFF2-40B4-BE49-F238E27FC236}">
                <a16:creationId xmlns:a16="http://schemas.microsoft.com/office/drawing/2014/main" id="{8A6E3686-2925-4ADD-A13C-513C7AE5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otion-title-1">
            <a:extLst xmlns:a="http://schemas.openxmlformats.org/drawingml/2006/main">
              <a:ext uri="{FF2B5EF4-FFF2-40B4-BE49-F238E27FC236}">
                <a16:creationId xmlns:a16="http://schemas.microsoft.com/office/drawing/2014/main" id="{4B458170-A4EA-42B6-9137-F2E0343E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514"/>
                </a:solidFill>
              </a:defRPr>
            </a:pPr>
            <a:r>
              <a:rPr sz="1575" b="1">
                <a:solidFill>
                  <a:srgbClr val="151514"/>
                </a:solidFill>
              </a:rPr>
              <a:t>HOLD</a:t>
            </a:r>
          </a:p>
        </p:txBody>
      </p:sp>
      <p:sp>
        <p:nvSpPr>
          <p:cNvPr id="9" name="motion-copy-1">
            <a:extLst xmlns:a="http://schemas.openxmlformats.org/drawingml/2006/main">
              <a:ext uri="{FF2B5EF4-FFF2-40B4-BE49-F238E27FC236}">
                <a16:creationId xmlns:a16="http://schemas.microsoft.com/office/drawing/2014/main" id="{3CA3706E-1140-457D-9103-A592918B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Let the full scene read.</a:t>
            </a:r>
          </a:p>
        </p:txBody>
      </p:sp>
      <p:sp>
        <p:nvSpPr>
          <p:cNvPr id="10" name="motion-stage-2">
            <a:extLst xmlns:a="http://schemas.openxmlformats.org/drawingml/2006/main">
              <a:ext uri="{FF2B5EF4-FFF2-40B4-BE49-F238E27FC236}">
                <a16:creationId xmlns:a16="http://schemas.microsoft.com/office/drawing/2014/main" id="{F718ABC1-0D80-46FF-A275-AF6D9F11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958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otion-title-2">
            <a:extLst xmlns:a="http://schemas.openxmlformats.org/drawingml/2006/main">
              <a:ext uri="{FF2B5EF4-FFF2-40B4-BE49-F238E27FC236}">
                <a16:creationId xmlns:a16="http://schemas.microsoft.com/office/drawing/2014/main" id="{CABA43AB-64DE-4E37-A67B-06AD18E8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8387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514"/>
                </a:solidFill>
              </a:defRPr>
            </a:pPr>
            <a:r>
              <a:rPr sz="1575" b="1">
                <a:solidFill>
                  <a:srgbClr val="151514"/>
                </a:solidFill>
              </a:rPr>
              <a:t>EASE IN</a:t>
            </a:r>
          </a:p>
        </p:txBody>
      </p:sp>
      <p:sp>
        <p:nvSpPr>
          <p:cNvPr id="12" name="motion-copy-2">
            <a:extLst xmlns:a="http://schemas.openxmlformats.org/drawingml/2006/main">
              <a:ext uri="{FF2B5EF4-FFF2-40B4-BE49-F238E27FC236}">
                <a16:creationId xmlns:a16="http://schemas.microsoft.com/office/drawing/2014/main" id="{E3038AE0-53D3-4ED5-AADF-A807E2F8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19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Use cubic-bezier(0.65, 0, 0.35, 1).</a:t>
            </a:r>
          </a:p>
        </p:txBody>
      </p:sp>
      <p:sp>
        <p:nvSpPr>
          <p:cNvPr id="13" name="motion-stage-3">
            <a:extLst xmlns:a="http://schemas.openxmlformats.org/drawingml/2006/main">
              <a:ext uri="{FF2B5EF4-FFF2-40B4-BE49-F238E27FC236}">
                <a16:creationId xmlns:a16="http://schemas.microsoft.com/office/drawing/2014/main" id="{2D12C071-6969-4890-A7C4-BA30A5BB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958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otion-title-3">
            <a:extLst xmlns:a="http://schemas.openxmlformats.org/drawingml/2006/main">
              <a:ext uri="{FF2B5EF4-FFF2-40B4-BE49-F238E27FC236}">
                <a16:creationId xmlns:a16="http://schemas.microsoft.com/office/drawing/2014/main" id="{D7E661E1-9C81-4FC5-9A3F-2F505065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514"/>
                </a:solidFill>
              </a:defRPr>
            </a:pPr>
            <a:r>
              <a:rPr sz="1575" b="1">
                <a:solidFill>
                  <a:srgbClr val="151514"/>
                </a:solidFill>
              </a:rPr>
              <a:t>STAGGER</a:t>
            </a:r>
          </a:p>
        </p:txBody>
      </p:sp>
      <p:sp>
        <p:nvSpPr>
          <p:cNvPr id="15" name="motion-copy-3">
            <a:extLst xmlns:a="http://schemas.openxmlformats.org/drawingml/2006/main">
              <a:ext uri="{FF2B5EF4-FFF2-40B4-BE49-F238E27FC236}">
                <a16:creationId xmlns:a16="http://schemas.microsoft.com/office/drawing/2014/main" id="{CCEF0D9E-6E90-48BB-BBD9-671FFD04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19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Bring ants in one by one with small timing changes.</a:t>
            </a:r>
          </a:p>
        </p:txBody>
      </p:sp>
      <p:sp>
        <p:nvSpPr>
          <p:cNvPr id="16" name="motion-stage-4">
            <a:extLst xmlns:a="http://schemas.openxmlformats.org/drawingml/2006/main">
              <a:ext uri="{FF2B5EF4-FFF2-40B4-BE49-F238E27FC236}">
                <a16:creationId xmlns:a16="http://schemas.microsoft.com/office/drawing/2014/main" id="{25210874-8F9B-439D-8886-17127262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958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otion-title-4">
            <a:extLst xmlns:a="http://schemas.openxmlformats.org/drawingml/2006/main">
              <a:ext uri="{FF2B5EF4-FFF2-40B4-BE49-F238E27FC236}">
                <a16:creationId xmlns:a16="http://schemas.microsoft.com/office/drawing/2014/main" id="{335269C9-FD1E-4579-9307-E37908AA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8387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514"/>
                </a:solidFill>
              </a:defRPr>
            </a:pPr>
            <a:r>
              <a:rPr sz="1575" b="1">
                <a:solidFill>
                  <a:srgbClr val="151514"/>
                </a:solidFill>
              </a:rPr>
              <a:t>CLEAR</a:t>
            </a:r>
          </a:p>
        </p:txBody>
      </p:sp>
      <p:sp>
        <p:nvSpPr>
          <p:cNvPr id="18" name="motion-copy-4">
            <a:extLst xmlns:a="http://schemas.openxmlformats.org/drawingml/2006/main">
              <a:ext uri="{FF2B5EF4-FFF2-40B4-BE49-F238E27FC236}">
                <a16:creationId xmlns:a16="http://schemas.microsoft.com/office/drawing/2014/main" id="{15956571-BE37-4320-BDC9-4D4C69AA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219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B70"/>
                </a:solidFill>
              </a:defRPr>
            </a:pPr>
            <a:r>
              <a:rPr sz="1200" b="0">
                <a:solidFill>
                  <a:srgbClr val="686B70"/>
                </a:solidFill>
              </a:rPr>
              <a:t>Move every ant off screen before the camera returns.</a:t>
            </a:r>
          </a:p>
        </p:txBody>
      </p:sp>
      <p:sp>
        <p:nvSpPr>
          <p:cNvPr id="19" name="motion-surface-rule">
            <a:extLst xmlns:a="http://schemas.openxmlformats.org/drawingml/2006/main">
              <a:ext uri="{FF2B5EF4-FFF2-40B4-BE49-F238E27FC236}">
                <a16:creationId xmlns:a16="http://schemas.microsoft.com/office/drawing/2014/main" id="{2DFFC96C-6D70-4862-8D6F-B07CEB70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All moving details stay attached to a real surface. Ants do not cross the water.</a:t>
            </a:r>
          </a:p>
        </p:txBody>
      </p:sp>
      <p:sp>
        <p:nvSpPr>
          <p:cNvPr id="20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6DC6EA91-CD00-4AF7-9252-2578D3F2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SHAYA / SIGNAL COLOR</a:t>
            </a:r>
          </a:p>
        </p:txBody>
      </p:sp>
      <p:sp>
        <p:nvSpPr>
          <p:cNvPr id="21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E7635F2-8A2C-4F18-A297-EC3B0DBB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049637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231B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8CF20C67-024B-4BD0-B8E1-9E022417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CAB05"/>
                </a:solidFill>
              </a:defRPr>
            </a:pPr>
            <a:r>
              <a:rPr sz="1125" b="1">
                <a:solidFill>
                  <a:srgbClr val="FCAB05"/>
                </a:solidFill>
              </a:rPr>
              <a:t>07 / GITHUB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891477-03CA-4816-936C-F01BD312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F6F3EC"/>
                </a:solidFill>
              </a:defRPr>
            </a:pPr>
            <a:r>
              <a:rPr sz="3450" b="0">
                <a:solidFill>
                  <a:srgbClr val="F6F3EC"/>
                </a:solidFill>
              </a:rPr>
              <a:t>Keep the profile readable before it becomes decorative</a:t>
            </a:r>
          </a:p>
        </p:txBody>
      </p:sp>
      <p:sp>
        <p:nvSpPr>
          <p:cNvPr id="3" name="github-surface">
            <a:extLst xmlns:a="http://schemas.openxmlformats.org/drawingml/2006/main">
              <a:ext uri="{FF2B5EF4-FFF2-40B4-BE49-F238E27FC236}">
                <a16:creationId xmlns:a16="http://schemas.microsoft.com/office/drawing/2014/main" id="{75DCF758-C343-46E6-851E-E9245B50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728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github-label">
            <a:extLst xmlns:a="http://schemas.openxmlformats.org/drawingml/2006/main">
              <a:ext uri="{FF2B5EF4-FFF2-40B4-BE49-F238E27FC236}">
                <a16:creationId xmlns:a16="http://schemas.microsoft.com/office/drawing/2014/main" id="{D97E8E29-772C-49E0-B4F0-F32F1499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0975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6B70"/>
                </a:solidFill>
              </a:defRPr>
            </a:pPr>
            <a:r>
              <a:rPr sz="1050" b="1">
                <a:solidFill>
                  <a:srgbClr val="686B70"/>
                </a:solidFill>
              </a:rPr>
              <a:t>PROFILE README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5bb24b67b497c"/>
          <a:stretch xmlns:a="http://schemas.openxmlformats.org/drawingml/2006/main"/>
        </p:blipFill>
        <p:spPr>
          <a:xfrm xmlns:a="http://schemas.openxmlformats.org/drawingml/2006/main">
            <a:off x="895350" y="2193131"/>
            <a:ext cx="7810500" cy="2928938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5a6154a934738"/>
          <a:stretch xmlns:a="http://schemas.openxmlformats.org/drawingml/2006/main"/>
        </p:blipFill>
        <p:spPr>
          <a:xfrm xmlns:a="http://schemas.openxmlformats.org/drawingml/2006/main">
            <a:off x="9144000" y="2190750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7" name="github-size">
            <a:extLst xmlns:a="http://schemas.openxmlformats.org/drawingml/2006/main">
              <a:ext uri="{FF2B5EF4-FFF2-40B4-BE49-F238E27FC236}">
                <a16:creationId xmlns:a16="http://schemas.microsoft.com/office/drawing/2014/main" id="{2CF53C69-D122-45E9-BB7E-2AF357DB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48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51514"/>
                </a:solidFill>
              </a:defRPr>
            </a:pPr>
            <a:r>
              <a:rPr sz="1650" b="0">
                <a:solidFill>
                  <a:srgbClr val="151514"/>
                </a:solidFill>
              </a:rPr>
              <a:t>1280 x 480</a:t>
            </a:r>
          </a:p>
        </p:txBody>
      </p:sp>
      <p:sp>
        <p:nvSpPr>
          <p:cNvPr id="8" name="github-guidance">
            <a:extLst xmlns:a="http://schemas.openxmlformats.org/drawingml/2006/main">
              <a:ext uri="{FF2B5EF4-FFF2-40B4-BE49-F238E27FC236}">
                <a16:creationId xmlns:a16="http://schemas.microsoft.com/office/drawing/2014/main" id="{E0C76D6F-D6DA-4F8D-984D-94CDFDD7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291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86B70"/>
                </a:solidFill>
              </a:defRPr>
            </a:pPr>
            <a:r>
              <a:rPr sz="1050" b="0">
                <a:solidFill>
                  <a:srgbClr val="686B70"/>
                </a:solidFill>
              </a:rPr>
              <a:t>Keep SHAYA and the tagline inside the left identity rail. Do not place foliage, motion, or interface labels over the words.</a:t>
            </a:r>
          </a:p>
        </p:txBody>
      </p:sp>
      <p:sp>
        <p:nvSpPr>
          <p:cNvPr id="9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ECA09CE5-A168-409E-B2B7-CA40F5C0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SHAYA / SIGNAL COLOR</a:t>
            </a:r>
          </a:p>
        </p:txBody>
      </p:sp>
      <p:sp>
        <p:nvSpPr>
          <p:cNvPr id="10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C852ED1-72E3-4D4B-81B9-C62CBCD4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6F3EC"/>
                </a:solidFill>
              </a:defRPr>
            </a:pPr>
            <a:r>
              <a:rPr sz="825" b="0">
                <a:solidFill>
                  <a:srgbClr val="F6F3EC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211369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91B3D6BA-B91F-4695-8F00-CA0BCF12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E4B05"/>
                </a:solidFill>
              </a:defRPr>
            </a:pPr>
            <a:r>
              <a:rPr sz="1125" b="1">
                <a:solidFill>
                  <a:srgbClr val="FE4B05"/>
                </a:solidFill>
              </a:rPr>
              <a:t>08 / VOICE AND RELEASE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7678da1eeb4cb2"/>
          <a:stretch xmlns:a="http://schemas.openxmlformats.org/drawingml/2006/main"/>
        </p:blipFill>
        <p:spPr>
          <a:xfrm xmlns:a="http://schemas.openxmlformats.org/drawingml/2006/main">
            <a:off x="1439636" y="857250"/>
            <a:ext cx="5007429" cy="1752600"/>
          </a:xfrm>
          <a:prstGeom xmlns:a="http://schemas.openxmlformats.org/drawingml/2006/main" prst="rect">
            <a:avLst/>
          </a:prstGeom>
        </p:spPr>
      </p:pic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214466EA-5D34-4393-90AA-1E2586AD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800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151514"/>
                </a:solidFill>
              </a:defRPr>
            </a:pPr>
            <a:r>
              <a:rPr sz="3750" b="0">
                <a:solidFill>
                  <a:srgbClr val="151514"/>
                </a:solidFill>
              </a:rPr>
              <a:t>Look closer before you claim certainty.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F5F05742-85E9-4523-9331-2062F381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6B70"/>
                </a:solidFill>
              </a:defRPr>
            </a:pPr>
            <a:r>
              <a:rPr sz="1575" b="0">
                <a:solidFill>
                  <a:srgbClr val="686B70"/>
                </a:solidFill>
              </a:rPr>
              <a:t>The visual system is bright. The written voice stays careful, direct, and evidence-first.</a:t>
            </a:r>
          </a:p>
        </p:txBody>
      </p:sp>
      <p:sp>
        <p:nvSpPr>
          <p:cNvPr id="5" name="release-check-1">
            <a:extLst xmlns:a="http://schemas.openxmlformats.org/drawingml/2006/main">
              <a:ext uri="{FF2B5EF4-FFF2-40B4-BE49-F238E27FC236}">
                <a16:creationId xmlns:a16="http://schemas.microsoft.com/office/drawing/2014/main" id="{F62A19E9-9285-4DFD-9DAD-45D6FC89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31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elease-title-1">
            <a:extLst xmlns:a="http://schemas.openxmlformats.org/drawingml/2006/main">
              <a:ext uri="{FF2B5EF4-FFF2-40B4-BE49-F238E27FC236}">
                <a16:creationId xmlns:a16="http://schemas.microsoft.com/office/drawing/2014/main" id="{89CCA0B1-028C-44F0-BD9B-108F5AC2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3EC"/>
                </a:solidFill>
              </a:defRPr>
            </a:pPr>
            <a:r>
              <a:rPr sz="1500" b="1">
                <a:solidFill>
                  <a:srgbClr val="F6F3EC"/>
                </a:solidFill>
              </a:rPr>
              <a:t>VERIFY</a:t>
            </a:r>
          </a:p>
        </p:txBody>
      </p:sp>
      <p:sp>
        <p:nvSpPr>
          <p:cNvPr id="7" name="release-copy-1">
            <a:extLst xmlns:a="http://schemas.openxmlformats.org/drawingml/2006/main">
              <a:ext uri="{FF2B5EF4-FFF2-40B4-BE49-F238E27FC236}">
                <a16:creationId xmlns:a16="http://schemas.microsoft.com/office/drawing/2014/main" id="{612CF81F-0556-4371-B2B7-4B9463EC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6F3EC"/>
                </a:solidFill>
              </a:defRPr>
            </a:pPr>
            <a:r>
              <a:rPr sz="1125" b="0">
                <a:solidFill>
                  <a:srgbClr val="F6F3EC"/>
                </a:solidFill>
              </a:rPr>
              <a:t>Test the public result.</a:t>
            </a:r>
          </a:p>
        </p:txBody>
      </p:sp>
      <p:sp>
        <p:nvSpPr>
          <p:cNvPr id="8" name="release-check-2">
            <a:extLst xmlns:a="http://schemas.openxmlformats.org/drawingml/2006/main">
              <a:ext uri="{FF2B5EF4-FFF2-40B4-BE49-F238E27FC236}">
                <a16:creationId xmlns:a16="http://schemas.microsoft.com/office/drawing/2014/main" id="{333BE2F1-3D81-48BB-9EF5-59C42A39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0292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AE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lease-title-2">
            <a:extLst xmlns:a="http://schemas.openxmlformats.org/drawingml/2006/main">
              <a:ext uri="{FF2B5EF4-FFF2-40B4-BE49-F238E27FC236}">
                <a16:creationId xmlns:a16="http://schemas.microsoft.com/office/drawing/2014/main" id="{F997E057-B5F7-4195-A67C-5582EF83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81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3EC"/>
                </a:solidFill>
              </a:defRPr>
            </a:pPr>
            <a:r>
              <a:rPr sz="1500" b="1">
                <a:solidFill>
                  <a:srgbClr val="F6F3EC"/>
                </a:solidFill>
              </a:rPr>
              <a:t>LIMIT</a:t>
            </a:r>
          </a:p>
        </p:txBody>
      </p:sp>
      <p:sp>
        <p:nvSpPr>
          <p:cNvPr id="10" name="release-copy-2">
            <a:extLst xmlns:a="http://schemas.openxmlformats.org/drawingml/2006/main">
              <a:ext uri="{FF2B5EF4-FFF2-40B4-BE49-F238E27FC236}">
                <a16:creationId xmlns:a16="http://schemas.microsoft.com/office/drawing/2014/main" id="{CDBFB781-77B4-499F-80AF-D4FD8E95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5245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6F3EC"/>
                </a:solidFill>
              </a:defRPr>
            </a:pPr>
            <a:r>
              <a:rPr sz="1125" b="0">
                <a:solidFill>
                  <a:srgbClr val="F6F3EC"/>
                </a:solidFill>
              </a:rPr>
              <a:t>State what is not confirmed.</a:t>
            </a:r>
          </a:p>
        </p:txBody>
      </p:sp>
      <p:sp>
        <p:nvSpPr>
          <p:cNvPr id="11" name="release-check-3">
            <a:extLst xmlns:a="http://schemas.openxmlformats.org/drawingml/2006/main">
              <a:ext uri="{FF2B5EF4-FFF2-40B4-BE49-F238E27FC236}">
                <a16:creationId xmlns:a16="http://schemas.microsoft.com/office/drawing/2014/main" id="{942E35D2-8F36-40B3-89F6-9B5A4770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292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A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elease-title-3">
            <a:extLst xmlns:a="http://schemas.openxmlformats.org/drawingml/2006/main">
              <a:ext uri="{FF2B5EF4-FFF2-40B4-BE49-F238E27FC236}">
                <a16:creationId xmlns:a16="http://schemas.microsoft.com/office/drawing/2014/main" id="{887468F9-F0B8-406E-8942-503B0A9D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514"/>
                </a:solidFill>
              </a:defRPr>
            </a:pPr>
            <a:r>
              <a:rPr sz="1500" b="1">
                <a:solidFill>
                  <a:srgbClr val="151514"/>
                </a:solidFill>
              </a:rPr>
              <a:t>WRITE</a:t>
            </a:r>
          </a:p>
        </p:txBody>
      </p:sp>
      <p:sp>
        <p:nvSpPr>
          <p:cNvPr id="13" name="release-copy-3">
            <a:extLst xmlns:a="http://schemas.openxmlformats.org/drawingml/2006/main">
              <a:ext uri="{FF2B5EF4-FFF2-40B4-BE49-F238E27FC236}">
                <a16:creationId xmlns:a16="http://schemas.microsoft.com/office/drawing/2014/main" id="{4E999CAC-8ECB-4E1B-A2B9-EA0A3480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5245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514"/>
                </a:solidFill>
              </a:defRPr>
            </a:pPr>
            <a:r>
              <a:rPr sz="1125" b="0">
                <a:solidFill>
                  <a:srgbClr val="151514"/>
                </a:solidFill>
              </a:rPr>
              <a:t>Use short, direct sentences.</a:t>
            </a:r>
          </a:p>
        </p:txBody>
      </p:sp>
      <p:sp>
        <p:nvSpPr>
          <p:cNvPr id="14" name="release-check-4">
            <a:extLst xmlns:a="http://schemas.openxmlformats.org/drawingml/2006/main">
              <a:ext uri="{FF2B5EF4-FFF2-40B4-BE49-F238E27FC236}">
                <a16:creationId xmlns:a16="http://schemas.microsoft.com/office/drawing/2014/main" id="{B507D79E-01E5-4ECD-8209-16C6A177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0292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4B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lease-title-4">
            <a:extLst xmlns:a="http://schemas.openxmlformats.org/drawingml/2006/main">
              <a:ext uri="{FF2B5EF4-FFF2-40B4-BE49-F238E27FC236}">
                <a16:creationId xmlns:a16="http://schemas.microsoft.com/office/drawing/2014/main" id="{1FFA7CCF-8972-4FF4-B050-142EC6CA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81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3EC"/>
                </a:solidFill>
              </a:defRPr>
            </a:pPr>
            <a:r>
              <a:rPr sz="1500" b="1">
                <a:solidFill>
                  <a:srgbClr val="F6F3EC"/>
                </a:solidFill>
              </a:rPr>
              <a:t>REVIEW</a:t>
            </a:r>
          </a:p>
        </p:txBody>
      </p:sp>
      <p:sp>
        <p:nvSpPr>
          <p:cNvPr id="16" name="release-copy-4">
            <a:extLst xmlns:a="http://schemas.openxmlformats.org/drawingml/2006/main">
              <a:ext uri="{FF2B5EF4-FFF2-40B4-BE49-F238E27FC236}">
                <a16:creationId xmlns:a16="http://schemas.microsoft.com/office/drawing/2014/main" id="{7E32EE88-E4F5-41D9-AAA0-71150865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245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6F3EC"/>
                </a:solidFill>
              </a:defRPr>
            </a:pPr>
            <a:r>
              <a:rPr sz="1125" b="0">
                <a:solidFill>
                  <a:srgbClr val="F6F3EC"/>
                </a:solidFill>
              </a:rPr>
              <a:t>Check the details at final size.</a:t>
            </a:r>
          </a:p>
        </p:txBody>
      </p:sp>
      <p:sp>
        <p:nvSpPr>
          <p:cNvPr id="17" name="footer-brand">
            <a:extLst xmlns:a="http://schemas.openxmlformats.org/drawingml/2006/main">
              <a:ext uri="{FF2B5EF4-FFF2-40B4-BE49-F238E27FC236}">
                <a16:creationId xmlns:a16="http://schemas.microsoft.com/office/drawing/2014/main" id="{C87BC736-1CEF-4AA5-BA9E-E092CD94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SHAYA / SIGNAL COLOR</a:t>
            </a:r>
          </a:p>
        </p:txBody>
      </p:sp>
      <p:sp>
        <p:nvSpPr>
          <p:cNvPr id="1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AA1E68BC-EDB4-4D79-BA71-3E568652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86B70"/>
                </a:solidFill>
              </a:defRPr>
            </a:pPr>
            <a:r>
              <a:rPr sz="825" b="0">
                <a:solidFill>
                  <a:srgbClr val="686B7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196645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2026-07-31T04:59:24.7760000Z</dcterms:created>
  <dcterms:modified xsi:type="dcterms:W3CDTF">2026-07-31T04:59:24.7760000Z</dcterms:modified>
</coreProperties>
</file>