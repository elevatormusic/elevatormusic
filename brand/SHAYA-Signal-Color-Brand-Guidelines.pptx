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9b7920035347d2" /><Relationship Type="http://schemas.openxmlformats.org/officeDocument/2006/relationships/extended-properties" Target="/docProps/app.xml" Id="R0fd647f41d9f4886" /><Relationship Type="http://schemas.openxmlformats.org/officeDocument/2006/relationships/officeDocument" Target="/ppt/presentation.xml" Id="R9cb3cacdc0b94f7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3e91b3e3d7a4991"/>
  </p:sldMasterIdLst>
  <p:notesMasterIdLst>
    <p:notesMasterId xmlns:r="http://schemas.openxmlformats.org/officeDocument/2006/relationships" r:id="Ra090802c49cf4815"/>
  </p:notesMasterIdLst>
  <p:sldIdLst>
    <p:sldId xmlns:r="http://schemas.openxmlformats.org/officeDocument/2006/relationships" id="256" r:id="Rc5626075e7564c44"/>
    <p:sldId xmlns:r="http://schemas.openxmlformats.org/officeDocument/2006/relationships" id="257" r:id="Rc9317099b75443bc"/>
    <p:sldId xmlns:r="http://schemas.openxmlformats.org/officeDocument/2006/relationships" id="258" r:id="Ra5480e8e65644068"/>
    <p:sldId xmlns:r="http://schemas.openxmlformats.org/officeDocument/2006/relationships" id="259" r:id="Rf99916f830b54880"/>
    <p:sldId xmlns:r="http://schemas.openxmlformats.org/officeDocument/2006/relationships" id="260" r:id="Rd1af9631e0fd4498"/>
    <p:sldId xmlns:r="http://schemas.openxmlformats.org/officeDocument/2006/relationships" id="261" r:id="R49b614387b6d4a71"/>
    <p:sldId xmlns:r="http://schemas.openxmlformats.org/officeDocument/2006/relationships" id="262" r:id="Rca941673486f4058"/>
    <p:sldId xmlns:r="http://schemas.openxmlformats.org/officeDocument/2006/relationships" id="263" r:id="Re57613a0ccc140b4"/>
    <p:sldId xmlns:r="http://schemas.openxmlformats.org/officeDocument/2006/relationships" id="264" r:id="Rcebb4eb943cf402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8f0ad672fd94e32" /><Relationship Type="http://schemas.openxmlformats.org/officeDocument/2006/relationships/slideMaster" Target="/ppt/slideMasters/slideMaster1.xml" Id="Rf3e91b3e3d7a4991" /><Relationship Type="http://schemas.openxmlformats.org/officeDocument/2006/relationships/notesMaster" Target="/ppt/notesMasters/notesMaster1.xml" Id="Ra090802c49cf4815" /><Relationship Type="http://schemas.openxmlformats.org/officeDocument/2006/relationships/presProps" Target="/ppt/presProps.xml" Id="Rfbd7dcfc0ec3425e" /><Relationship Type="http://schemas.openxmlformats.org/officeDocument/2006/relationships/tableStyles" Target="/ppt/tableStyles.xml" Id="Rcb495610f0904124" /><Relationship Type="http://schemas.openxmlformats.org/officeDocument/2006/relationships/slide" Target="/ppt/slides/slide1.xml" Id="Rc5626075e7564c44" /><Relationship Type="http://schemas.openxmlformats.org/officeDocument/2006/relationships/slide" Target="/ppt/slides/slide2.xml" Id="Rc9317099b75443bc" /><Relationship Type="http://schemas.openxmlformats.org/officeDocument/2006/relationships/slide" Target="/ppt/slides/slide3.xml" Id="Ra5480e8e65644068" /><Relationship Type="http://schemas.openxmlformats.org/officeDocument/2006/relationships/slide" Target="/ppt/slides/slide4.xml" Id="Rf99916f830b54880" /><Relationship Type="http://schemas.openxmlformats.org/officeDocument/2006/relationships/slide" Target="/ppt/slides/slide5.xml" Id="Rd1af9631e0fd4498" /><Relationship Type="http://schemas.openxmlformats.org/officeDocument/2006/relationships/slide" Target="/ppt/slides/slide6.xml" Id="R49b614387b6d4a71" /><Relationship Type="http://schemas.openxmlformats.org/officeDocument/2006/relationships/slide" Target="/ppt/slides/slide7.xml" Id="Rca941673486f4058" /><Relationship Type="http://schemas.openxmlformats.org/officeDocument/2006/relationships/slide" Target="/ppt/slides/slide8.xml" Id="Re57613a0ccc140b4" /><Relationship Type="http://schemas.openxmlformats.org/officeDocument/2006/relationships/slide" Target="/ppt/slides/slide9.xml" Id="Rcebb4eb943cf402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e1fd36967c4489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894333d7db14616" /><Relationship Type="http://schemas.openxmlformats.org/officeDocument/2006/relationships/notesMaster" Target="/ppt/notesMasters/notesMaster1.xml" Id="Rd823d23956094ba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c615182ea6b414c" /><Relationship Type="http://schemas.openxmlformats.org/officeDocument/2006/relationships/notesMaster" Target="/ppt/notesMasters/notesMaster1.xml" Id="Re7c2154f82a049c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8f85a122ea74b93" /><Relationship Type="http://schemas.openxmlformats.org/officeDocument/2006/relationships/notesMaster" Target="/ppt/notesMasters/notesMaster1.xml" Id="Rc54167c70252494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2733757456a49cd" /><Relationship Type="http://schemas.openxmlformats.org/officeDocument/2006/relationships/notesMaster" Target="/ppt/notesMasters/notesMaster1.xml" Id="Rd097fee7979a4b4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34a0d5ddb5f4bc7" /><Relationship Type="http://schemas.openxmlformats.org/officeDocument/2006/relationships/notesMaster" Target="/ppt/notesMasters/notesMaster1.xml" Id="R563018ea4cbe467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82df6f997f4270" /><Relationship Type="http://schemas.openxmlformats.org/officeDocument/2006/relationships/notesMaster" Target="/ppt/notesMasters/notesMaster1.xml" Id="Rfc9b734cc95a4df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3fb0eb485d442c7" /><Relationship Type="http://schemas.openxmlformats.org/officeDocument/2006/relationships/notesMaster" Target="/ppt/notesMasters/notesMaster1.xml" Id="Rc20ce1083e0a4e3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2fb53c5c3ad46fb" /><Relationship Type="http://schemas.openxmlformats.org/officeDocument/2006/relationships/notesMaster" Target="/ppt/notesMasters/notesMaster1.xml" Id="R16a7483ed52e467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ca8cc724e3d42d9" /><Relationship Type="http://schemas.openxmlformats.org/officeDocument/2006/relationships/notesMaster" Target="/ppt/notesMasters/notesMaster1.xml" Id="R7f388c1a86fc458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cb95d51e63491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ccad8f3cbd14044" /><Relationship Type="http://schemas.openxmlformats.org/officeDocument/2006/relationships/slideLayout" Target="/ppt/slideLayouts/slideLayout1.xml" Id="R84118aaf9df24c8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4118aaf9df24c8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8ba843945947d0" /><Relationship Type="http://schemas.openxmlformats.org/officeDocument/2006/relationships/image" Target="/ppt/media/image.png" Id="Rd9b50c99e4164cfe" /><Relationship Type="http://schemas.openxmlformats.org/officeDocument/2006/relationships/notesSlide" Target="/ppt/notesSlides/notesSlide1.xml" Id="R9b554f535dd04b3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662518f3fa4972" /><Relationship Type="http://schemas.openxmlformats.org/officeDocument/2006/relationships/image" Target="/ppt/media/image2.png" Id="R5788c16c49b641fd" /><Relationship Type="http://schemas.openxmlformats.org/officeDocument/2006/relationships/image" Target="/ppt/media/image.svg" Id="Rf7f5d4120a1149ed" /><Relationship Type="http://schemas.openxmlformats.org/officeDocument/2006/relationships/notesSlide" Target="/ppt/notesSlides/notesSlide2.xml" Id="R921162f372614a8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efb945b8304d2e" /><Relationship Type="http://schemas.openxmlformats.org/officeDocument/2006/relationships/image" Target="/ppt/media/image3.png" Id="R38123349dfaf4c51" /><Relationship Type="http://schemas.openxmlformats.org/officeDocument/2006/relationships/image" Target="/ppt/media/image2.svg" Id="Rc218f3e98bbf44fb" /><Relationship Type="http://schemas.openxmlformats.org/officeDocument/2006/relationships/image" Target="/ppt/media/image4.png" Id="R54ecb9bb35434f2b" /><Relationship Type="http://schemas.openxmlformats.org/officeDocument/2006/relationships/image" Target="/ppt/media/image3.svg" Id="R1a0fc7257b49487e" /><Relationship Type="http://schemas.openxmlformats.org/officeDocument/2006/relationships/image" Target="/ppt/media/image5.png" Id="R4549c26cf01246e3" /><Relationship Type="http://schemas.openxmlformats.org/officeDocument/2006/relationships/image" Target="/ppt/media/image4.svg" Id="Rffe74d06a2b2456f" /><Relationship Type="http://schemas.openxmlformats.org/officeDocument/2006/relationships/notesSlide" Target="/ppt/notesSlides/notesSlide3.xml" Id="R4d1edb33c763429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6376e44dfc4a79" /><Relationship Type="http://schemas.openxmlformats.org/officeDocument/2006/relationships/notesSlide" Target="/ppt/notesSlides/notesSlide4.xml" Id="R2c1402bdfda8466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e5b36a97d94e78" /><Relationship Type="http://schemas.openxmlformats.org/officeDocument/2006/relationships/image" Target="/ppt/media/image6.png" Id="Rb531d9e51b5d44fe" /><Relationship Type="http://schemas.openxmlformats.org/officeDocument/2006/relationships/image" Target="/ppt/media/image5.svg" Id="R4bd7852bdfa64de6" /><Relationship Type="http://schemas.openxmlformats.org/officeDocument/2006/relationships/notesSlide" Target="/ppt/notesSlides/notesSlide5.xml" Id="R98cdaf6ed30d443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648082c54f4ec7" /><Relationship Type="http://schemas.openxmlformats.org/officeDocument/2006/relationships/image" Target="/ppt/media/image7.png" Id="R2bbb5eecf6094b82" /><Relationship Type="http://schemas.openxmlformats.org/officeDocument/2006/relationships/image" Target="/ppt/media/image8.png" Id="R49ab05ea074b48b8" /><Relationship Type="http://schemas.openxmlformats.org/officeDocument/2006/relationships/image" Target="/ppt/media/image6.svg" Id="Ra9bf1ea9e9704fae" /><Relationship Type="http://schemas.openxmlformats.org/officeDocument/2006/relationships/notesSlide" Target="/ppt/notesSlides/notesSlide6.xml" Id="R335966657c1e404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2d864bfa6740e5" /><Relationship Type="http://schemas.openxmlformats.org/officeDocument/2006/relationships/image" Target="/ppt/media/image9.png" Id="R7d2e5f048a984bda" /><Relationship Type="http://schemas.openxmlformats.org/officeDocument/2006/relationships/image" Target="/ppt/media/image10.png" Id="Rce449201e3314f63" /><Relationship Type="http://schemas.openxmlformats.org/officeDocument/2006/relationships/notesSlide" Target="/ppt/notesSlides/notesSlide7.xml" Id="R22366619dafb4a7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34498ff03d403d" /><Relationship Type="http://schemas.openxmlformats.org/officeDocument/2006/relationships/image" Target="/ppt/media/image11.png" Id="R9f873c620c944614" /><Relationship Type="http://schemas.openxmlformats.org/officeDocument/2006/relationships/image" Target="/ppt/media/image12.png" Id="Ra23ca14cdda545cc" /><Relationship Type="http://schemas.openxmlformats.org/officeDocument/2006/relationships/image" Target="/ppt/media/image7.svg" Id="R4021cc8d5e8a4a55" /><Relationship Type="http://schemas.openxmlformats.org/officeDocument/2006/relationships/notesSlide" Target="/ppt/notesSlides/notesSlide8.xml" Id="Rb2c97fc529dd4cb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c66afe31a8421f" /><Relationship Type="http://schemas.openxmlformats.org/officeDocument/2006/relationships/image" Target="/ppt/media/image13.png" Id="R8d3a4dd78e92497d" /><Relationship Type="http://schemas.openxmlformats.org/officeDocument/2006/relationships/image" Target="/ppt/media/image8.svg" Id="R9ccf24c70aeb409b" /><Relationship Type="http://schemas.openxmlformats.org/officeDocument/2006/relationships/notesSlide" Target="/ppt/notesSlides/notesSlide9.xml" Id="R394b7e824bb049e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231B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b50c99e4164cf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4572000"/>
          </a:xfrm>
          <a:prstGeom xmlns:a="http://schemas.openxmlformats.org/drawingml/2006/main" prst="rect">
            <a:avLst/>
          </a:prstGeom>
        </p:spPr>
      </p:pic>
      <p:sp>
        <p:nvSpPr>
          <p:cNvPr id="2" name="cover-band">
            <a:extLst xmlns:a="http://schemas.openxmlformats.org/drawingml/2006/main">
              <a:ext uri="{FF2B5EF4-FFF2-40B4-BE49-F238E27FC236}">
                <a16:creationId xmlns:a16="http://schemas.microsoft.com/office/drawing/2014/main" id="{47F02D4D-9DDD-4355-B18F-F10400173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31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BC2E4BF-4787-4174-9B14-A47975B6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650" b="0">
                <a:solidFill>
                  <a:srgbClr val="F6F3EC"/>
                </a:solidFill>
              </a:defRPr>
            </a:pPr>
            <a:r>
              <a:rPr sz="4650" b="0">
                <a:solidFill>
                  <a:srgbClr val="F6F3EC"/>
                </a:solidFill>
              </a:rPr>
              <a:t>SIGNAL COLOR</a:t>
            </a:r>
          </a:p>
        </p:txBody>
      </p:sp>
      <p:sp>
        <p:nvSpPr>
          <p:cNvPr id="4" name="cover-version">
            <a:extLst xmlns:a="http://schemas.openxmlformats.org/drawingml/2006/main">
              <a:ext uri="{FF2B5EF4-FFF2-40B4-BE49-F238E27FC236}">
                <a16:creationId xmlns:a16="http://schemas.microsoft.com/office/drawing/2014/main" id="{CF5F4CA8-8566-451C-906F-B55A81D7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674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6F3EC"/>
                </a:solidFill>
              </a:defRPr>
            </a:pPr>
            <a:r>
              <a:rPr sz="1275" b="1">
                <a:solidFill>
                  <a:srgbClr val="F6F3EC"/>
                </a:solidFill>
              </a:rPr>
              <a:t>BRAND GUIDELINES / VERSION 1.0</a:t>
            </a:r>
          </a:p>
        </p:txBody>
      </p:sp>
      <p:sp>
        <p:nvSpPr>
          <p:cNvPr id="5" name="cover-color-1">
            <a:extLst xmlns:a="http://schemas.openxmlformats.org/drawingml/2006/main">
              <a:ext uri="{FF2B5EF4-FFF2-40B4-BE49-F238E27FC236}">
                <a16:creationId xmlns:a16="http://schemas.microsoft.com/office/drawing/2014/main" id="{47330158-4132-4A66-A01A-A57425352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054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AE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over-color-2">
            <a:extLst xmlns:a="http://schemas.openxmlformats.org/drawingml/2006/main">
              <a:ext uri="{FF2B5EF4-FFF2-40B4-BE49-F238E27FC236}">
                <a16:creationId xmlns:a16="http://schemas.microsoft.com/office/drawing/2014/main" id="{8B2233E6-F5D6-4C65-9DCE-84ABEB21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5054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4B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over-color-3">
            <a:extLst xmlns:a="http://schemas.openxmlformats.org/drawingml/2006/main">
              <a:ext uri="{FF2B5EF4-FFF2-40B4-BE49-F238E27FC236}">
                <a16:creationId xmlns:a16="http://schemas.microsoft.com/office/drawing/2014/main" id="{42AA4551-51AD-4D60-95D4-8D7A67B4C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5054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AB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over-color-4">
            <a:extLst xmlns:a="http://schemas.openxmlformats.org/drawingml/2006/main">
              <a:ext uri="{FF2B5EF4-FFF2-40B4-BE49-F238E27FC236}">
                <a16:creationId xmlns:a16="http://schemas.microsoft.com/office/drawing/2014/main" id="{1A721A97-05C7-4301-AD17-F26777057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5054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1F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ver-color-5">
            <a:extLst xmlns:a="http://schemas.openxmlformats.org/drawingml/2006/main">
              <a:ext uri="{FF2B5EF4-FFF2-40B4-BE49-F238E27FC236}">
                <a16:creationId xmlns:a16="http://schemas.microsoft.com/office/drawing/2014/main" id="{B2E1F459-661D-47D7-9094-0828D0AD7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55054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211669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">
            <a:extLst xmlns:a="http://schemas.openxmlformats.org/drawingml/2006/main">
              <a:ext uri="{FF2B5EF4-FFF2-40B4-BE49-F238E27FC236}">
                <a16:creationId xmlns:a16="http://schemas.microsoft.com/office/drawing/2014/main" id="{2EEBED5B-242A-4C13-B9EA-A30BE75B4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E4B05"/>
                </a:solidFill>
              </a:defRPr>
            </a:pPr>
            <a:r>
              <a:rPr sz="1125" b="1">
                <a:solidFill>
                  <a:srgbClr val="FE4B05"/>
                </a:solidFill>
              </a:rPr>
              <a:t>01 / BRAND CORE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0BA2B1E-BDE7-4D3F-A489-410261949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7429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151514"/>
                </a:solidFill>
              </a:defRPr>
            </a:pPr>
            <a:r>
              <a:rPr sz="3450" b="0">
                <a:solidFill>
                  <a:srgbClr val="151514"/>
                </a:solidFill>
              </a:rPr>
              <a:t>Curiosity made visible</a:t>
            </a:r>
          </a:p>
        </p:txBody>
      </p:sp>
      <p:sp>
        <p:nvSpPr>
          <p:cNvPr id="3" name="core-mark-field">
            <a:extLst xmlns:a="http://schemas.openxmlformats.org/drawingml/2006/main">
              <a:ext uri="{FF2B5EF4-FFF2-40B4-BE49-F238E27FC236}">
                <a16:creationId xmlns:a16="http://schemas.microsoft.com/office/drawing/2014/main" id="{8D2F8B67-680F-4DFB-A132-20ACC45F0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7147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31B1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88c16c49b641fd">
            <a:extLst>
              <a:ext uri="{96DAC541-7B7A-43D3-8B79-37D633B846F1}">
                <asvg:svgBlip xmlns:asvg="http://schemas.microsoft.com/office/drawing/2016/SVG/main" r:embed="Rf7f5d4120a1149e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466850" y="2419350"/>
            <a:ext cx="2000250" cy="2190750"/>
          </a:xfrm>
          <a:prstGeom xmlns:a="http://schemas.openxmlformats.org/drawingml/2006/main" prst="rect">
            <a:avLst/>
          </a:prstGeom>
        </p:spPr>
      </p:pic>
      <p:sp>
        <p:nvSpPr>
          <p:cNvPr id="5" name="core-tagline">
            <a:extLst xmlns:a="http://schemas.openxmlformats.org/drawingml/2006/main">
              <a:ext uri="{FF2B5EF4-FFF2-40B4-BE49-F238E27FC236}">
                <a16:creationId xmlns:a16="http://schemas.microsoft.com/office/drawing/2014/main" id="{F394F2E7-E103-4B7C-B060-09DD65C6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9545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0">
                <a:solidFill>
                  <a:srgbClr val="151514"/>
                </a:solidFill>
              </a:defRPr>
            </a:pPr>
            <a:r>
              <a:rPr sz="3900" b="0">
                <a:solidFill>
                  <a:srgbClr val="151514"/>
                </a:solidFill>
              </a:rPr>
              <a:t>STAY CURIOUS.</a:t>
            </a:r>
          </a:p>
          <a:p xmlns:a="http://schemas.openxmlformats.org/drawingml/2006/main">
            <a:pPr algn="l">
              <a:defRPr sz="3900" b="0">
                <a:solidFill>
                  <a:srgbClr val="151514"/>
                </a:solidFill>
              </a:defRPr>
            </a:pPr>
            <a:r>
              <a:rPr sz="3900" b="0">
                <a:solidFill>
                  <a:srgbClr val="151514"/>
                </a:solidFill>
              </a:rPr>
              <a:t>LOOK CLOSER.</a:t>
            </a:r>
          </a:p>
        </p:txBody>
      </p:sp>
      <p:sp>
        <p:nvSpPr>
          <p:cNvPr id="6" name="core-description">
            <a:extLst xmlns:a="http://schemas.openxmlformats.org/drawingml/2006/main">
              <a:ext uri="{FF2B5EF4-FFF2-40B4-BE49-F238E27FC236}">
                <a16:creationId xmlns:a16="http://schemas.microsoft.com/office/drawing/2014/main" id="{090C26A9-D45A-4B11-87AD-A23F0235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14700"/>
            <a:ext cx="5810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1514"/>
                </a:solidFill>
              </a:defRPr>
            </a:pPr>
            <a:r>
              <a:rPr sz="1650" b="0">
                <a:solidFill>
                  <a:srgbClr val="151514"/>
                </a:solidFill>
              </a:rPr>
              <a:t>Signal Color turns careful observation into a bright, direct visual language. It feels confident without hiding the details.</a:t>
            </a:r>
          </a:p>
        </p:txBody>
      </p:sp>
      <p:sp>
        <p:nvSpPr>
          <p:cNvPr id="7" name="trait-rule-1">
            <a:extLst xmlns:a="http://schemas.openxmlformats.org/drawingml/2006/main">
              <a:ext uri="{FF2B5EF4-FFF2-40B4-BE49-F238E27FC236}">
                <a16:creationId xmlns:a16="http://schemas.microsoft.com/office/drawing/2014/main" id="{DA49EDCE-7777-4759-B058-5191392B1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648200"/>
            <a:ext cx="1790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AE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rait-title-1">
            <a:extLst xmlns:a="http://schemas.openxmlformats.org/drawingml/2006/main">
              <a:ext uri="{FF2B5EF4-FFF2-40B4-BE49-F238E27FC236}">
                <a16:creationId xmlns:a16="http://schemas.microsoft.com/office/drawing/2014/main" id="{99CB0426-8EB7-400A-BB9E-2C0BC1BF9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8958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1514"/>
                </a:solidFill>
              </a:defRPr>
            </a:pPr>
            <a:r>
              <a:rPr sz="1500" b="1">
                <a:solidFill>
                  <a:srgbClr val="151514"/>
                </a:solidFill>
              </a:rPr>
              <a:t>CURIOUS</a:t>
            </a:r>
          </a:p>
        </p:txBody>
      </p:sp>
      <p:sp>
        <p:nvSpPr>
          <p:cNvPr id="9" name="trait-copy-1">
            <a:extLst xmlns:a="http://schemas.openxmlformats.org/drawingml/2006/main">
              <a:ext uri="{FF2B5EF4-FFF2-40B4-BE49-F238E27FC236}">
                <a16:creationId xmlns:a16="http://schemas.microsoft.com/office/drawing/2014/main" id="{3F98D999-37F2-48F4-8674-66E56CB51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387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6B70"/>
                </a:solidFill>
              </a:defRPr>
            </a:pPr>
            <a:r>
              <a:rPr sz="1200" b="0">
                <a:solidFill>
                  <a:srgbClr val="686B70"/>
                </a:solidFill>
              </a:rPr>
              <a:t>Ask one more useful question.</a:t>
            </a:r>
          </a:p>
        </p:txBody>
      </p:sp>
      <p:sp>
        <p:nvSpPr>
          <p:cNvPr id="10" name="trait-rule-2">
            <a:extLst xmlns:a="http://schemas.openxmlformats.org/drawingml/2006/main">
              <a:ext uri="{FF2B5EF4-FFF2-40B4-BE49-F238E27FC236}">
                <a16:creationId xmlns:a16="http://schemas.microsoft.com/office/drawing/2014/main" id="{36F99454-7126-4780-9631-37637D7C7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648200"/>
            <a:ext cx="1790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4B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rait-title-2">
            <a:extLst xmlns:a="http://schemas.openxmlformats.org/drawingml/2006/main">
              <a:ext uri="{FF2B5EF4-FFF2-40B4-BE49-F238E27FC236}">
                <a16:creationId xmlns:a16="http://schemas.microsoft.com/office/drawing/2014/main" id="{18AFF734-B269-4A00-B8C9-C72A27CEE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8958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1514"/>
                </a:solidFill>
              </a:defRPr>
            </a:pPr>
            <a:r>
              <a:rPr sz="1500" b="1">
                <a:solidFill>
                  <a:srgbClr val="151514"/>
                </a:solidFill>
              </a:rPr>
              <a:t>PRECISE</a:t>
            </a:r>
          </a:p>
        </p:txBody>
      </p:sp>
      <p:sp>
        <p:nvSpPr>
          <p:cNvPr id="12" name="trait-copy-2">
            <a:extLst xmlns:a="http://schemas.openxmlformats.org/drawingml/2006/main">
              <a:ext uri="{FF2B5EF4-FFF2-40B4-BE49-F238E27FC236}">
                <a16:creationId xmlns:a16="http://schemas.microsoft.com/office/drawing/2014/main" id="{72344FC8-8CBB-44CA-A041-6B9333FF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2387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6B70"/>
                </a:solidFill>
              </a:defRPr>
            </a:pPr>
            <a:r>
              <a:rPr sz="1200" b="0">
                <a:solidFill>
                  <a:srgbClr val="686B70"/>
                </a:solidFill>
              </a:rPr>
              <a:t>Keep claims clear and testable.</a:t>
            </a:r>
          </a:p>
        </p:txBody>
      </p:sp>
      <p:sp>
        <p:nvSpPr>
          <p:cNvPr id="13" name="trait-rule-3">
            <a:extLst xmlns:a="http://schemas.openxmlformats.org/drawingml/2006/main">
              <a:ext uri="{FF2B5EF4-FFF2-40B4-BE49-F238E27FC236}">
                <a16:creationId xmlns:a16="http://schemas.microsoft.com/office/drawing/2014/main" id="{DC2917DB-A41B-4763-8C3B-61547C597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648200"/>
            <a:ext cx="1790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AB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rait-title-3">
            <a:extLst xmlns:a="http://schemas.openxmlformats.org/drawingml/2006/main">
              <a:ext uri="{FF2B5EF4-FFF2-40B4-BE49-F238E27FC236}">
                <a16:creationId xmlns:a16="http://schemas.microsoft.com/office/drawing/2014/main" id="{6C104AF1-2BBD-4FB1-9B81-A50EBB9E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8958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1514"/>
                </a:solidFill>
              </a:defRPr>
            </a:pPr>
            <a:r>
              <a:rPr sz="1500" b="1">
                <a:solidFill>
                  <a:srgbClr val="151514"/>
                </a:solidFill>
              </a:rPr>
              <a:t>OPTIMISTIC</a:t>
            </a:r>
          </a:p>
        </p:txBody>
      </p:sp>
      <p:sp>
        <p:nvSpPr>
          <p:cNvPr id="15" name="trait-copy-3">
            <a:extLst xmlns:a="http://schemas.openxmlformats.org/drawingml/2006/main">
              <a:ext uri="{FF2B5EF4-FFF2-40B4-BE49-F238E27FC236}">
                <a16:creationId xmlns:a16="http://schemas.microsoft.com/office/drawing/2014/main" id="{1C4F04A4-72C0-43D9-B503-B9A92E7A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2387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6B70"/>
                </a:solidFill>
              </a:defRPr>
            </a:pPr>
            <a:r>
              <a:rPr sz="1200" b="0">
                <a:solidFill>
                  <a:srgbClr val="686B70"/>
                </a:solidFill>
              </a:rPr>
              <a:t>Use color to invite attention.</a:t>
            </a:r>
          </a:p>
        </p:txBody>
      </p:sp>
      <p:sp>
        <p:nvSpPr>
          <p:cNvPr id="16" name="footer-brand">
            <a:extLst xmlns:a="http://schemas.openxmlformats.org/drawingml/2006/main">
              <a:ext uri="{FF2B5EF4-FFF2-40B4-BE49-F238E27FC236}">
                <a16:creationId xmlns:a16="http://schemas.microsoft.com/office/drawing/2014/main" id="{0097ECFB-AF4A-4A22-B8A5-41A44C795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86B70"/>
                </a:solidFill>
              </a:defRPr>
            </a:pPr>
            <a:r>
              <a:rPr sz="825" b="0">
                <a:solidFill>
                  <a:srgbClr val="686B70"/>
                </a:solidFill>
              </a:rPr>
              <a:t>SHAYA / SIGNAL COLOR</a:t>
            </a:r>
          </a:p>
        </p:txBody>
      </p:sp>
      <p:sp>
        <p:nvSpPr>
          <p:cNvPr id="17" name="footer-page">
            <a:extLst xmlns:a="http://schemas.openxmlformats.org/drawingml/2006/main">
              <a:ext uri="{FF2B5EF4-FFF2-40B4-BE49-F238E27FC236}">
                <a16:creationId xmlns:a16="http://schemas.microsoft.com/office/drawing/2014/main" id="{B70B3466-46AD-4DAA-8EFD-DCCD664CD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86B70"/>
                </a:solidFill>
              </a:defRPr>
            </a:pPr>
            <a:r>
              <a:rPr sz="825" b="0">
                <a:solidFill>
                  <a:srgbClr val="686B70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40182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231B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eyebrow">
            <a:extLst xmlns:a="http://schemas.openxmlformats.org/drawingml/2006/main">
              <a:ext uri="{FF2B5EF4-FFF2-40B4-BE49-F238E27FC236}">
                <a16:creationId xmlns:a16="http://schemas.microsoft.com/office/drawing/2014/main" id="{761EB7E4-77FB-442C-B0EA-E2DEB5CC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CAB05"/>
                </a:solidFill>
              </a:defRPr>
            </a:pPr>
            <a:r>
              <a:rPr sz="1125" b="1">
                <a:solidFill>
                  <a:srgbClr val="FCAB05"/>
                </a:solidFill>
              </a:rPr>
              <a:t>02 / LOGO SYSTEM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9B9807B-AB08-4515-BDC4-962CEBD9B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F6F3EC"/>
                </a:solidFill>
              </a:defRPr>
            </a:pPr>
            <a:r>
              <a:rPr sz="3450" b="0">
                <a:solidFill>
                  <a:srgbClr val="F6F3EC"/>
                </a:solidFill>
              </a:rPr>
              <a:t>Keep the folded S sharp and simple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123349dfaf4c51">
            <a:extLst>
              <a:ext uri="{96DAC541-7B7A-43D3-8B79-37D633B846F1}">
                <asvg:svgBlip xmlns:asvg="http://schemas.microsoft.com/office/drawing/2016/SVG/main" r:embed="Rc218f3e98bbf44f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9600" y="1657350"/>
            <a:ext cx="4953000" cy="3543300"/>
          </a:xfrm>
          <a:prstGeom xmlns:a="http://schemas.openxmlformats.org/drawingml/2006/main" prst="rect">
            <a:avLst/>
          </a:prstGeom>
        </p:spPr>
      </p:pic>
      <p:sp>
        <p:nvSpPr>
          <p:cNvPr id="4" name="dark-mark-field">
            <a:extLst xmlns:a="http://schemas.openxmlformats.org/drawingml/2006/main">
              <a:ext uri="{FF2B5EF4-FFF2-40B4-BE49-F238E27FC236}">
                <a16:creationId xmlns:a16="http://schemas.microsoft.com/office/drawing/2014/main" id="{29729BA5-1192-4C96-B07E-3C122AC40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573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ecb9bb35434f2b">
            <a:extLst>
              <a:ext uri="{96DAC541-7B7A-43D3-8B79-37D633B846F1}">
                <asvg:svgBlip xmlns:asvg="http://schemas.microsoft.com/office/drawing/2016/SVG/main" r:embed="R1a0fc7257b49487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591300" y="2209800"/>
            <a:ext cx="1238250" cy="1352550"/>
          </a:xfrm>
          <a:prstGeom xmlns:a="http://schemas.openxmlformats.org/drawingml/2006/main" prst="rect">
            <a:avLst/>
          </a:prstGeom>
        </p:spPr>
      </p:pic>
      <p:sp>
        <p:nvSpPr>
          <p:cNvPr id="6" name="light-mark-field">
            <a:extLst xmlns:a="http://schemas.openxmlformats.org/drawingml/2006/main">
              <a:ext uri="{FF2B5EF4-FFF2-40B4-BE49-F238E27FC236}">
                <a16:creationId xmlns:a16="http://schemas.microsoft.com/office/drawing/2014/main" id="{9010C83F-ECBC-404A-9331-1E7766D02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6573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4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49c26cf01246e3">
            <a:extLst>
              <a:ext uri="{96DAC541-7B7A-43D3-8B79-37D633B846F1}">
                <asvg:svgBlip xmlns:asvg="http://schemas.microsoft.com/office/drawing/2016/SVG/main" r:embed="Rffe74d06a2b2456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277350" y="2209800"/>
            <a:ext cx="1238250" cy="1352550"/>
          </a:xfrm>
          <a:prstGeom xmlns:a="http://schemas.openxmlformats.org/drawingml/2006/main" prst="rect">
            <a:avLst/>
          </a:prstGeom>
        </p:spPr>
      </p:pic>
      <p:sp>
        <p:nvSpPr>
          <p:cNvPr id="8" name="light-field-label">
            <a:extLst xmlns:a="http://schemas.openxmlformats.org/drawingml/2006/main">
              <a:ext uri="{FF2B5EF4-FFF2-40B4-BE49-F238E27FC236}">
                <a16:creationId xmlns:a16="http://schemas.microsoft.com/office/drawing/2014/main" id="{B05426C3-72EE-423E-A829-B9421D95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291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6F3EC"/>
                </a:solidFill>
              </a:defRPr>
            </a:pPr>
            <a:r>
              <a:rPr sz="1050" b="1">
                <a:solidFill>
                  <a:srgbClr val="F6F3EC"/>
                </a:solidFill>
              </a:rPr>
              <a:t>LIGHT FIELD</a:t>
            </a:r>
          </a:p>
        </p:txBody>
      </p:sp>
      <p:sp>
        <p:nvSpPr>
          <p:cNvPr id="9" name="dark-field-label">
            <a:extLst xmlns:a="http://schemas.openxmlformats.org/drawingml/2006/main">
              <a:ext uri="{FF2B5EF4-FFF2-40B4-BE49-F238E27FC236}">
                <a16:creationId xmlns:a16="http://schemas.microsoft.com/office/drawing/2014/main" id="{E658010B-5E17-4B1C-8A72-49C6D6A3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2291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6F3EC"/>
                </a:solidFill>
              </a:defRPr>
            </a:pPr>
            <a:r>
              <a:rPr sz="1050" b="1">
                <a:solidFill>
                  <a:srgbClr val="F6F3EC"/>
                </a:solidFill>
              </a:rPr>
              <a:t>DARK FIELD</a:t>
            </a:r>
          </a:p>
        </p:txBody>
      </p:sp>
      <p:sp>
        <p:nvSpPr>
          <p:cNvPr id="10" name="logo-do-title">
            <a:extLst xmlns:a="http://schemas.openxmlformats.org/drawingml/2006/main">
              <a:ext uri="{FF2B5EF4-FFF2-40B4-BE49-F238E27FC236}">
                <a16:creationId xmlns:a16="http://schemas.microsoft.com/office/drawing/2014/main" id="{8772EBC5-48F3-4491-8FBF-26384075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577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CAB05"/>
                </a:solidFill>
              </a:defRPr>
            </a:pPr>
            <a:r>
              <a:rPr sz="1575" b="1">
                <a:solidFill>
                  <a:srgbClr val="FCAB05"/>
                </a:solidFill>
              </a:rPr>
              <a:t>DO</a:t>
            </a:r>
          </a:p>
        </p:txBody>
      </p:sp>
      <p:sp>
        <p:nvSpPr>
          <p:cNvPr id="11" name="logo-do-copy">
            <a:extLst xmlns:a="http://schemas.openxmlformats.org/drawingml/2006/main">
              <a:ext uri="{FF2B5EF4-FFF2-40B4-BE49-F238E27FC236}">
                <a16:creationId xmlns:a16="http://schemas.microsoft.com/office/drawing/2014/main" id="{5BD37CE3-FD5E-4203-A714-E6DC9ADB6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20065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6F3EC"/>
                </a:solidFill>
              </a:defRPr>
            </a:pPr>
            <a:r>
              <a:rPr sz="1275" b="0">
                <a:solidFill>
                  <a:srgbClr val="F6F3EC"/>
                </a:solidFill>
              </a:rPr>
              <a:t>Use the supplied mark. Keep the original proportions. Leave clear space.</a:t>
            </a:r>
          </a:p>
        </p:txBody>
      </p:sp>
      <p:sp>
        <p:nvSpPr>
          <p:cNvPr id="12" name="logo-dont-title">
            <a:extLst xmlns:a="http://schemas.openxmlformats.org/drawingml/2006/main">
              <a:ext uri="{FF2B5EF4-FFF2-40B4-BE49-F238E27FC236}">
                <a16:creationId xmlns:a16="http://schemas.microsoft.com/office/drawing/2014/main" id="{518A4D4A-E34E-4E5B-950B-6E34DBFD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8577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E4B05"/>
                </a:solidFill>
              </a:defRPr>
            </a:pPr>
            <a:r>
              <a:rPr sz="1575" b="1">
                <a:solidFill>
                  <a:srgbClr val="FE4B05"/>
                </a:solidFill>
              </a:rPr>
              <a:t>DO NOT</a:t>
            </a:r>
          </a:p>
        </p:txBody>
      </p:sp>
      <p:sp>
        <p:nvSpPr>
          <p:cNvPr id="13" name="logo-dont-copy">
            <a:extLst xmlns:a="http://schemas.openxmlformats.org/drawingml/2006/main">
              <a:ext uri="{FF2B5EF4-FFF2-40B4-BE49-F238E27FC236}">
                <a16:creationId xmlns:a16="http://schemas.microsoft.com/office/drawing/2014/main" id="{11A44DDC-17D5-44B8-B346-8A0A4355D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0065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6F3EC"/>
                </a:solidFill>
              </a:defRPr>
            </a:pPr>
            <a:r>
              <a:rPr sz="1275" b="0">
                <a:solidFill>
                  <a:srgbClr val="F6F3EC"/>
                </a:solidFill>
              </a:rPr>
              <a:t>Stretch, rotate, outline, add effects, or rebuild the geometry.</a:t>
            </a:r>
          </a:p>
        </p:txBody>
      </p:sp>
      <p:sp>
        <p:nvSpPr>
          <p:cNvPr id="14" name="footer-brand">
            <a:extLst xmlns:a="http://schemas.openxmlformats.org/drawingml/2006/main">
              <a:ext uri="{FF2B5EF4-FFF2-40B4-BE49-F238E27FC236}">
                <a16:creationId xmlns:a16="http://schemas.microsoft.com/office/drawing/2014/main" id="{E73D54C9-2B5C-4EB0-B838-076DE858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6F3EC"/>
                </a:solidFill>
              </a:defRPr>
            </a:pPr>
            <a:r>
              <a:rPr sz="825" b="0">
                <a:solidFill>
                  <a:srgbClr val="F6F3EC"/>
                </a:solidFill>
              </a:rPr>
              <a:t>SHAYA / SIGNAL COLOR</a:t>
            </a:r>
          </a:p>
        </p:txBody>
      </p:sp>
      <p:sp>
        <p:nvSpPr>
          <p:cNvPr id="1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7737B055-7BCF-4F64-8F74-B1BD5C06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F6F3EC"/>
                </a:solidFill>
              </a:defRPr>
            </a:pPr>
            <a:r>
              <a:rPr sz="825" b="0">
                <a:solidFill>
                  <a:srgbClr val="F6F3EC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108201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eyebrow">
            <a:extLst xmlns:a="http://schemas.openxmlformats.org/drawingml/2006/main">
              <a:ext uri="{FF2B5EF4-FFF2-40B4-BE49-F238E27FC236}">
                <a16:creationId xmlns:a16="http://schemas.microsoft.com/office/drawing/2014/main" id="{8DAC1E10-A969-49E3-920F-21B48BB23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E4B05"/>
                </a:solidFill>
              </a:defRPr>
            </a:pPr>
            <a:r>
              <a:rPr sz="1125" b="1">
                <a:solidFill>
                  <a:srgbClr val="FE4B05"/>
                </a:solidFill>
              </a:rPr>
              <a:t>03 / COLOR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92E0E55-BDC7-47EE-96D3-78EC2E478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151514"/>
                </a:solidFill>
              </a:defRPr>
            </a:pPr>
            <a:r>
              <a:rPr sz="3450" b="0">
                <a:solidFill>
                  <a:srgbClr val="151514"/>
                </a:solidFill>
              </a:rPr>
              <a:t>One bold field, then controlled signals</a:t>
            </a:r>
          </a:p>
        </p:txBody>
      </p:sp>
      <p:sp>
        <p:nvSpPr>
          <p:cNvPr id="3" name="color-1">
            <a:extLst xmlns:a="http://schemas.openxmlformats.org/drawingml/2006/main">
              <a:ext uri="{FF2B5EF4-FFF2-40B4-BE49-F238E27FC236}">
                <a16:creationId xmlns:a16="http://schemas.microsoft.com/office/drawing/2014/main" id="{09A52E2B-23F8-46B1-AC31-39DEA3AFC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3716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31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lor-name-1">
            <a:extLst xmlns:a="http://schemas.openxmlformats.org/drawingml/2006/main">
              <a:ext uri="{FF2B5EF4-FFF2-40B4-BE49-F238E27FC236}">
                <a16:creationId xmlns:a16="http://schemas.microsoft.com/office/drawing/2014/main" id="{092F63FF-97D5-4B4B-84F8-695A06D4A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514"/>
                </a:solidFill>
              </a:defRPr>
            </a:pPr>
            <a:r>
              <a:rPr sz="1350" b="1">
                <a:solidFill>
                  <a:srgbClr val="151514"/>
                </a:solidFill>
              </a:rPr>
              <a:t>COBALT</a:t>
            </a:r>
          </a:p>
        </p:txBody>
      </p:sp>
      <p:sp>
        <p:nvSpPr>
          <p:cNvPr id="5" name="color-hex-1">
            <a:extLst xmlns:a="http://schemas.openxmlformats.org/drawingml/2006/main">
              <a:ext uri="{FF2B5EF4-FFF2-40B4-BE49-F238E27FC236}">
                <a16:creationId xmlns:a16="http://schemas.microsoft.com/office/drawing/2014/main" id="{0065EC08-7D02-4FF4-B7AC-6B178CCA8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6B70"/>
                </a:solidFill>
              </a:defRPr>
            </a:pPr>
            <a:r>
              <a:rPr sz="1050" b="0">
                <a:solidFill>
                  <a:srgbClr val="686B70"/>
                </a:solidFill>
              </a:rPr>
              <a:t>#0231B1</a:t>
            </a:r>
          </a:p>
        </p:txBody>
      </p:sp>
      <p:sp>
        <p:nvSpPr>
          <p:cNvPr id="6" name="color-share-1">
            <a:extLst xmlns:a="http://schemas.openxmlformats.org/drawingml/2006/main">
              <a:ext uri="{FF2B5EF4-FFF2-40B4-BE49-F238E27FC236}">
                <a16:creationId xmlns:a16="http://schemas.microsoft.com/office/drawing/2014/main" id="{93B3F9E2-301F-4AC3-BA6F-B07826AE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514"/>
                </a:solidFill>
              </a:defRPr>
            </a:pPr>
            <a:r>
              <a:rPr sz="1800" b="0">
                <a:solidFill>
                  <a:srgbClr val="151514"/>
                </a:solidFill>
              </a:rPr>
              <a:t>45%</a:t>
            </a:r>
          </a:p>
        </p:txBody>
      </p:sp>
      <p:sp>
        <p:nvSpPr>
          <p:cNvPr id="7" name="color-2">
            <a:extLst xmlns:a="http://schemas.openxmlformats.org/drawingml/2006/main">
              <a:ext uri="{FF2B5EF4-FFF2-40B4-BE49-F238E27FC236}">
                <a16:creationId xmlns:a16="http://schemas.microsoft.com/office/drawing/2014/main" id="{24330B6A-877C-44D3-9582-40631338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771650"/>
            <a:ext cx="13716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9525">
            <a:solidFill>
              <a:srgbClr val="C9C5BC"/>
            </a:solidFill>
            <a:prstDash val="solid"/>
          </a:ln>
        </p:spPr>
      </p:sp>
      <p:sp>
        <p:nvSpPr>
          <p:cNvPr id="8" name="color-name-2">
            <a:extLst xmlns:a="http://schemas.openxmlformats.org/drawingml/2006/main">
              <a:ext uri="{FF2B5EF4-FFF2-40B4-BE49-F238E27FC236}">
                <a16:creationId xmlns:a16="http://schemas.microsoft.com/office/drawing/2014/main" id="{912766C7-7720-4B33-BCB6-DA9D082F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6291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514"/>
                </a:solidFill>
              </a:defRPr>
            </a:pPr>
            <a:r>
              <a:rPr sz="1350" b="1">
                <a:solidFill>
                  <a:srgbClr val="151514"/>
                </a:solidFill>
              </a:rPr>
              <a:t>WARM WHITE</a:t>
            </a:r>
          </a:p>
        </p:txBody>
      </p:sp>
      <p:sp>
        <p:nvSpPr>
          <p:cNvPr id="9" name="color-hex-2">
            <a:extLst xmlns:a="http://schemas.openxmlformats.org/drawingml/2006/main">
              <a:ext uri="{FF2B5EF4-FFF2-40B4-BE49-F238E27FC236}">
                <a16:creationId xmlns:a16="http://schemas.microsoft.com/office/drawing/2014/main" id="{C7BA4DAE-D1E8-4E79-8B93-8A074C6C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99110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6B70"/>
                </a:solidFill>
              </a:defRPr>
            </a:pPr>
            <a:r>
              <a:rPr sz="1050" b="0">
                <a:solidFill>
                  <a:srgbClr val="686B70"/>
                </a:solidFill>
              </a:rPr>
              <a:t>#F6F3EC</a:t>
            </a:r>
          </a:p>
        </p:txBody>
      </p:sp>
      <p:sp>
        <p:nvSpPr>
          <p:cNvPr id="10" name="color-share-2">
            <a:extLst xmlns:a="http://schemas.openxmlformats.org/drawingml/2006/main">
              <a:ext uri="{FF2B5EF4-FFF2-40B4-BE49-F238E27FC236}">
                <a16:creationId xmlns:a16="http://schemas.microsoft.com/office/drawing/2014/main" id="{46408F43-2C71-4F78-9179-6A74D6437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3149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514"/>
                </a:solidFill>
              </a:defRPr>
            </a:pPr>
            <a:r>
              <a:rPr sz="1800" b="0">
                <a:solidFill>
                  <a:srgbClr val="151514"/>
                </a:solidFill>
              </a:rPr>
              <a:t>25%</a:t>
            </a:r>
          </a:p>
        </p:txBody>
      </p:sp>
      <p:sp>
        <p:nvSpPr>
          <p:cNvPr id="11" name="color-3">
            <a:extLst xmlns:a="http://schemas.openxmlformats.org/drawingml/2006/main">
              <a:ext uri="{FF2B5EF4-FFF2-40B4-BE49-F238E27FC236}">
                <a16:creationId xmlns:a16="http://schemas.microsoft.com/office/drawing/2014/main" id="{3F207FA3-66FB-41AF-B06B-CFCFC6B3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13716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AE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olor-name-3">
            <a:extLst xmlns:a="http://schemas.openxmlformats.org/drawingml/2006/main">
              <a:ext uri="{FF2B5EF4-FFF2-40B4-BE49-F238E27FC236}">
                <a16:creationId xmlns:a16="http://schemas.microsoft.com/office/drawing/2014/main" id="{50B12E23-3E92-4E18-8B03-8682B67D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6291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514"/>
                </a:solidFill>
              </a:defRPr>
            </a:pPr>
            <a:r>
              <a:rPr sz="1350" b="1">
                <a:solidFill>
                  <a:srgbClr val="151514"/>
                </a:solidFill>
              </a:rPr>
              <a:t>TURQUOISE</a:t>
            </a:r>
          </a:p>
        </p:txBody>
      </p:sp>
      <p:sp>
        <p:nvSpPr>
          <p:cNvPr id="13" name="color-hex-3">
            <a:extLst xmlns:a="http://schemas.openxmlformats.org/drawingml/2006/main">
              <a:ext uri="{FF2B5EF4-FFF2-40B4-BE49-F238E27FC236}">
                <a16:creationId xmlns:a16="http://schemas.microsoft.com/office/drawing/2014/main" id="{E761D687-2BC9-491E-8373-846E4C13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9110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6B70"/>
                </a:solidFill>
              </a:defRPr>
            </a:pPr>
            <a:r>
              <a:rPr sz="1050" b="0">
                <a:solidFill>
                  <a:srgbClr val="686B70"/>
                </a:solidFill>
              </a:rPr>
              <a:t>#03AEA9</a:t>
            </a:r>
          </a:p>
        </p:txBody>
      </p:sp>
      <p:sp>
        <p:nvSpPr>
          <p:cNvPr id="14" name="color-share-3">
            <a:extLst xmlns:a="http://schemas.openxmlformats.org/drawingml/2006/main">
              <a:ext uri="{FF2B5EF4-FFF2-40B4-BE49-F238E27FC236}">
                <a16:creationId xmlns:a16="http://schemas.microsoft.com/office/drawing/2014/main" id="{E84D59C0-A5E9-4087-A9BC-7F1F55B8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53149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514"/>
                </a:solidFill>
              </a:defRPr>
            </a:pPr>
            <a:r>
              <a:rPr sz="1800" b="0">
                <a:solidFill>
                  <a:srgbClr val="151514"/>
                </a:solidFill>
              </a:rPr>
              <a:t>10%</a:t>
            </a:r>
          </a:p>
        </p:txBody>
      </p:sp>
      <p:sp>
        <p:nvSpPr>
          <p:cNvPr id="15" name="color-4">
            <a:extLst xmlns:a="http://schemas.openxmlformats.org/drawingml/2006/main">
              <a:ext uri="{FF2B5EF4-FFF2-40B4-BE49-F238E27FC236}">
                <a16:creationId xmlns:a16="http://schemas.microsoft.com/office/drawing/2014/main" id="{F1CC19C2-B0CE-4DF9-B5E7-ABA71EF93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771650"/>
            <a:ext cx="13716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4B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olor-name-4">
            <a:extLst xmlns:a="http://schemas.openxmlformats.org/drawingml/2006/main">
              <a:ext uri="{FF2B5EF4-FFF2-40B4-BE49-F238E27FC236}">
                <a16:creationId xmlns:a16="http://schemas.microsoft.com/office/drawing/2014/main" id="{C7EAF7DC-18D4-4B4A-A700-B2B0E62D9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6291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514"/>
                </a:solidFill>
              </a:defRPr>
            </a:pPr>
            <a:r>
              <a:rPr sz="1350" b="1">
                <a:solidFill>
                  <a:srgbClr val="151514"/>
                </a:solidFill>
              </a:rPr>
              <a:t>VERMILION</a:t>
            </a:r>
          </a:p>
        </p:txBody>
      </p:sp>
      <p:sp>
        <p:nvSpPr>
          <p:cNvPr id="17" name="color-hex-4">
            <a:extLst xmlns:a="http://schemas.openxmlformats.org/drawingml/2006/main">
              <a:ext uri="{FF2B5EF4-FFF2-40B4-BE49-F238E27FC236}">
                <a16:creationId xmlns:a16="http://schemas.microsoft.com/office/drawing/2014/main" id="{638442AA-30B1-45EE-B1E2-F2F131720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99110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6B70"/>
                </a:solidFill>
              </a:defRPr>
            </a:pPr>
            <a:r>
              <a:rPr sz="1050" b="0">
                <a:solidFill>
                  <a:srgbClr val="686B70"/>
                </a:solidFill>
              </a:rPr>
              <a:t>#FE4B05</a:t>
            </a:r>
          </a:p>
        </p:txBody>
      </p:sp>
      <p:sp>
        <p:nvSpPr>
          <p:cNvPr id="18" name="color-share-4">
            <a:extLst xmlns:a="http://schemas.openxmlformats.org/drawingml/2006/main">
              <a:ext uri="{FF2B5EF4-FFF2-40B4-BE49-F238E27FC236}">
                <a16:creationId xmlns:a16="http://schemas.microsoft.com/office/drawing/2014/main" id="{210C76F6-5305-43AE-A5A6-44BCB19D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3149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514"/>
                </a:solidFill>
              </a:defRPr>
            </a:pPr>
            <a:r>
              <a:rPr sz="1800" b="0">
                <a:solidFill>
                  <a:srgbClr val="151514"/>
                </a:solidFill>
              </a:rPr>
              <a:t>8%</a:t>
            </a:r>
          </a:p>
        </p:txBody>
      </p:sp>
      <p:sp>
        <p:nvSpPr>
          <p:cNvPr id="19" name="color-5">
            <a:extLst xmlns:a="http://schemas.openxmlformats.org/drawingml/2006/main">
              <a:ext uri="{FF2B5EF4-FFF2-40B4-BE49-F238E27FC236}">
                <a16:creationId xmlns:a16="http://schemas.microsoft.com/office/drawing/2014/main" id="{43483F14-07DE-4373-9A55-C96FA0E3A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771650"/>
            <a:ext cx="13716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AB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olor-name-5">
            <a:extLst xmlns:a="http://schemas.openxmlformats.org/drawingml/2006/main">
              <a:ext uri="{FF2B5EF4-FFF2-40B4-BE49-F238E27FC236}">
                <a16:creationId xmlns:a16="http://schemas.microsoft.com/office/drawing/2014/main" id="{A8C91141-B1DB-4F08-8241-BC662A3C1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291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514"/>
                </a:solidFill>
              </a:defRPr>
            </a:pPr>
            <a:r>
              <a:rPr sz="1350" b="1">
                <a:solidFill>
                  <a:srgbClr val="151514"/>
                </a:solidFill>
              </a:rPr>
              <a:t>MARIGOLD</a:t>
            </a:r>
          </a:p>
        </p:txBody>
      </p:sp>
      <p:sp>
        <p:nvSpPr>
          <p:cNvPr id="21" name="color-hex-5">
            <a:extLst xmlns:a="http://schemas.openxmlformats.org/drawingml/2006/main">
              <a:ext uri="{FF2B5EF4-FFF2-40B4-BE49-F238E27FC236}">
                <a16:creationId xmlns:a16="http://schemas.microsoft.com/office/drawing/2014/main" id="{C13CA191-2C29-4F6D-BA38-C4D524F8E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99110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6B70"/>
                </a:solidFill>
              </a:defRPr>
            </a:pPr>
            <a:r>
              <a:rPr sz="1050" b="0">
                <a:solidFill>
                  <a:srgbClr val="686B70"/>
                </a:solidFill>
              </a:rPr>
              <a:t>#FCAB05</a:t>
            </a:r>
          </a:p>
        </p:txBody>
      </p:sp>
      <p:sp>
        <p:nvSpPr>
          <p:cNvPr id="22" name="color-share-5">
            <a:extLst xmlns:a="http://schemas.openxmlformats.org/drawingml/2006/main">
              <a:ext uri="{FF2B5EF4-FFF2-40B4-BE49-F238E27FC236}">
                <a16:creationId xmlns:a16="http://schemas.microsoft.com/office/drawing/2014/main" id="{6F325E53-8F4F-4892-997C-B8D829A0D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3149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514"/>
                </a:solidFill>
              </a:defRPr>
            </a:pPr>
            <a:r>
              <a:rPr sz="1800" b="0">
                <a:solidFill>
                  <a:srgbClr val="151514"/>
                </a:solidFill>
              </a:rPr>
              <a:t>6%</a:t>
            </a:r>
          </a:p>
        </p:txBody>
      </p:sp>
      <p:sp>
        <p:nvSpPr>
          <p:cNvPr id="23" name="color-6">
            <a:extLst xmlns:a="http://schemas.openxmlformats.org/drawingml/2006/main">
              <a:ext uri="{FF2B5EF4-FFF2-40B4-BE49-F238E27FC236}">
                <a16:creationId xmlns:a16="http://schemas.microsoft.com/office/drawing/2014/main" id="{80925D60-2670-4E8C-8F07-DF9DC2AF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771650"/>
            <a:ext cx="13716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1F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olor-name-6">
            <a:extLst xmlns:a="http://schemas.openxmlformats.org/drawingml/2006/main">
              <a:ext uri="{FF2B5EF4-FFF2-40B4-BE49-F238E27FC236}">
                <a16:creationId xmlns:a16="http://schemas.microsoft.com/office/drawing/2014/main" id="{7978D55B-1142-4656-8E4A-F2CF325F9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6291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514"/>
                </a:solidFill>
              </a:defRPr>
            </a:pPr>
            <a:r>
              <a:rPr sz="1350" b="1">
                <a:solidFill>
                  <a:srgbClr val="151514"/>
                </a:solidFill>
              </a:rPr>
              <a:t>INDIGO</a:t>
            </a:r>
          </a:p>
        </p:txBody>
      </p:sp>
      <p:sp>
        <p:nvSpPr>
          <p:cNvPr id="25" name="color-hex-6">
            <a:extLst xmlns:a="http://schemas.openxmlformats.org/drawingml/2006/main">
              <a:ext uri="{FF2B5EF4-FFF2-40B4-BE49-F238E27FC236}">
                <a16:creationId xmlns:a16="http://schemas.microsoft.com/office/drawing/2014/main" id="{73FB37D2-6811-4A37-94D2-CAA2BE775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9110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6B70"/>
                </a:solidFill>
              </a:defRPr>
            </a:pPr>
            <a:r>
              <a:rPr sz="1050" b="0">
                <a:solidFill>
                  <a:srgbClr val="686B70"/>
                </a:solidFill>
              </a:rPr>
              <a:t>#3B1F73</a:t>
            </a:r>
          </a:p>
        </p:txBody>
      </p:sp>
      <p:sp>
        <p:nvSpPr>
          <p:cNvPr id="26" name="color-share-6">
            <a:extLst xmlns:a="http://schemas.openxmlformats.org/drawingml/2006/main">
              <a:ext uri="{FF2B5EF4-FFF2-40B4-BE49-F238E27FC236}">
                <a16:creationId xmlns:a16="http://schemas.microsoft.com/office/drawing/2014/main" id="{1A8597A0-C071-4F05-B61E-318C99989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3149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514"/>
                </a:solidFill>
              </a:defRPr>
            </a:pPr>
            <a:r>
              <a:rPr sz="1800" b="0">
                <a:solidFill>
                  <a:srgbClr val="151514"/>
                </a:solidFill>
              </a:rPr>
              <a:t>4%</a:t>
            </a:r>
          </a:p>
        </p:txBody>
      </p:sp>
      <p:sp>
        <p:nvSpPr>
          <p:cNvPr id="27" name="color-7">
            <a:extLst xmlns:a="http://schemas.openxmlformats.org/drawingml/2006/main">
              <a:ext uri="{FF2B5EF4-FFF2-40B4-BE49-F238E27FC236}">
                <a16:creationId xmlns:a16="http://schemas.microsoft.com/office/drawing/2014/main" id="{3FA306D0-57C6-4552-B94B-CF224EF33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1771650"/>
            <a:ext cx="13716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lor-name-7">
            <a:extLst xmlns:a="http://schemas.openxmlformats.org/drawingml/2006/main">
              <a:ext uri="{FF2B5EF4-FFF2-40B4-BE49-F238E27FC236}">
                <a16:creationId xmlns:a16="http://schemas.microsoft.com/office/drawing/2014/main" id="{110BC648-AEAA-4FD8-8A2E-52C2C13E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6291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514"/>
                </a:solidFill>
              </a:defRPr>
            </a:pPr>
            <a:r>
              <a:rPr sz="1350" b="1">
                <a:solidFill>
                  <a:srgbClr val="151514"/>
                </a:solidFill>
              </a:rPr>
              <a:t>INK</a:t>
            </a:r>
          </a:p>
        </p:txBody>
      </p:sp>
      <p:sp>
        <p:nvSpPr>
          <p:cNvPr id="29" name="color-hex-7">
            <a:extLst xmlns:a="http://schemas.openxmlformats.org/drawingml/2006/main">
              <a:ext uri="{FF2B5EF4-FFF2-40B4-BE49-F238E27FC236}">
                <a16:creationId xmlns:a16="http://schemas.microsoft.com/office/drawing/2014/main" id="{D031E2A3-57E1-4FE3-B7CD-31C7D2F3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99110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6B70"/>
                </a:solidFill>
              </a:defRPr>
            </a:pPr>
            <a:r>
              <a:rPr sz="1050" b="0">
                <a:solidFill>
                  <a:srgbClr val="686B70"/>
                </a:solidFill>
              </a:rPr>
              <a:t>#151514</a:t>
            </a:r>
          </a:p>
        </p:txBody>
      </p:sp>
      <p:sp>
        <p:nvSpPr>
          <p:cNvPr id="30" name="color-share-7">
            <a:extLst xmlns:a="http://schemas.openxmlformats.org/drawingml/2006/main">
              <a:ext uri="{FF2B5EF4-FFF2-40B4-BE49-F238E27FC236}">
                <a16:creationId xmlns:a16="http://schemas.microsoft.com/office/drawing/2014/main" id="{5AE90951-D150-42B6-AEED-40B583A6A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3149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514"/>
                </a:solidFill>
              </a:defRPr>
            </a:pPr>
            <a:r>
              <a:rPr sz="1800" b="0">
                <a:solidFill>
                  <a:srgbClr val="151514"/>
                </a:solidFill>
              </a:rPr>
              <a:t>2%</a:t>
            </a:r>
          </a:p>
        </p:txBody>
      </p:sp>
      <p:sp>
        <p:nvSpPr>
          <p:cNvPr id="31" name="color-guidance">
            <a:extLst xmlns:a="http://schemas.openxmlformats.org/drawingml/2006/main">
              <a:ext uri="{FF2B5EF4-FFF2-40B4-BE49-F238E27FC236}">
                <a16:creationId xmlns:a16="http://schemas.microsoft.com/office/drawing/2014/main" id="{035A855B-874B-48B6-984F-20FB0B014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1514"/>
                </a:solidFill>
              </a:defRPr>
            </a:pPr>
            <a:r>
              <a:rPr sz="1350" b="0">
                <a:solidFill>
                  <a:srgbClr val="151514"/>
                </a:solidFill>
              </a:rPr>
              <a:t>Use Cobalt or Warm White as the main field. Use one or two signal colors per composition. Reserve Ink for text and high-contrast details.</a:t>
            </a:r>
          </a:p>
        </p:txBody>
      </p:sp>
      <p:sp>
        <p:nvSpPr>
          <p:cNvPr id="32" name="footer-brand">
            <a:extLst xmlns:a="http://schemas.openxmlformats.org/drawingml/2006/main">
              <a:ext uri="{FF2B5EF4-FFF2-40B4-BE49-F238E27FC236}">
                <a16:creationId xmlns:a16="http://schemas.microsoft.com/office/drawing/2014/main" id="{52D46A9F-3FDC-4962-9A6D-F93974ED1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86B70"/>
                </a:solidFill>
              </a:defRPr>
            </a:pPr>
            <a:r>
              <a:rPr sz="825" b="0">
                <a:solidFill>
                  <a:srgbClr val="686B70"/>
                </a:solidFill>
              </a:rPr>
              <a:t>SHAYA / SIGNAL COLOR</a:t>
            </a:r>
          </a:p>
        </p:txBody>
      </p:sp>
      <p:sp>
        <p:nvSpPr>
          <p:cNvPr id="33" name="footer-page">
            <a:extLst xmlns:a="http://schemas.openxmlformats.org/drawingml/2006/main">
              <a:ext uri="{FF2B5EF4-FFF2-40B4-BE49-F238E27FC236}">
                <a16:creationId xmlns:a16="http://schemas.microsoft.com/office/drawing/2014/main" id="{463FE127-35CF-43AB-A6C0-CA06E4BD7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86B70"/>
                </a:solidFill>
              </a:defRPr>
            </a:pPr>
            <a:r>
              <a:rPr sz="825" b="0">
                <a:solidFill>
                  <a:srgbClr val="686B70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9902032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231B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eyebrow">
            <a:extLst xmlns:a="http://schemas.openxmlformats.org/drawingml/2006/main">
              <a:ext uri="{FF2B5EF4-FFF2-40B4-BE49-F238E27FC236}">
                <a16:creationId xmlns:a16="http://schemas.microsoft.com/office/drawing/2014/main" id="{F953DE7E-C901-4043-984F-DD497F483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CAB05"/>
                </a:solidFill>
              </a:defRPr>
            </a:pPr>
            <a:r>
              <a:rPr sz="1125" b="1">
                <a:solidFill>
                  <a:srgbClr val="FCAB05"/>
                </a:solidFill>
              </a:rPr>
              <a:t>04 / TYPOGRAPHY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F1624AA-2177-4072-AEDC-35F7A9AEE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F6F3EC"/>
                </a:solidFill>
              </a:defRPr>
            </a:pPr>
            <a:r>
              <a:rPr sz="3450" b="0">
                <a:solidFill>
                  <a:srgbClr val="F6F3EC"/>
                </a:solidFill>
              </a:rPr>
              <a:t>Condensed display type carries the signal</a:t>
            </a:r>
          </a:p>
        </p:txBody>
      </p:sp>
      <p:sp>
        <p:nvSpPr>
          <p:cNvPr id="3" name="display-specimen">
            <a:extLst xmlns:a="http://schemas.openxmlformats.org/drawingml/2006/main">
              <a:ext uri="{FF2B5EF4-FFF2-40B4-BE49-F238E27FC236}">
                <a16:creationId xmlns:a16="http://schemas.microsoft.com/office/drawing/2014/main" id="{B775F138-DC6B-4535-853C-2E0B9F757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61912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900" b="0">
                <a:solidFill>
                  <a:srgbClr val="F6F3EC"/>
                </a:solidFill>
              </a:defRPr>
            </a:pPr>
            <a:r>
              <a:rPr sz="9900" b="0">
                <a:solidFill>
                  <a:srgbClr val="F6F3EC"/>
                </a:solidFill>
              </a:rPr>
              <a:t>SHAYA</a:t>
            </a:r>
          </a:p>
        </p:txBody>
      </p:sp>
      <p:sp>
        <p:nvSpPr>
          <p:cNvPr id="4" name="display-type-cover">
            <a:extLst xmlns:a="http://schemas.openxmlformats.org/drawingml/2006/main">
              <a:ext uri="{FF2B5EF4-FFF2-40B4-BE49-F238E27FC236}">
                <a16:creationId xmlns:a16="http://schemas.microsoft.com/office/drawing/2014/main" id="{BB496D3B-64B6-4A7B-8332-2A561D0CA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61912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31B1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31d9e51b5d44fe">
            <a:extLst>
              <a:ext uri="{96DAC541-7B7A-43D3-8B79-37D633B846F1}">
                <asvg:svgBlip xmlns:asvg="http://schemas.microsoft.com/office/drawing/2016/SVG/main" r:embed="R4bd7852bdfa64de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9600" y="1638300"/>
            <a:ext cx="6191250" cy="1581150"/>
          </a:xfrm>
          <a:prstGeom xmlns:a="http://schemas.openxmlformats.org/drawingml/2006/main" prst="rect">
            <a:avLst/>
          </a:prstGeom>
        </p:spPr>
      </p:pic>
      <p:sp>
        <p:nvSpPr>
          <p:cNvPr id="6" name="display-label">
            <a:extLst xmlns:a="http://schemas.openxmlformats.org/drawingml/2006/main">
              <a:ext uri="{FF2B5EF4-FFF2-40B4-BE49-F238E27FC236}">
                <a16:creationId xmlns:a16="http://schemas.microsoft.com/office/drawing/2014/main" id="{6E235EA6-9774-4617-B7EE-FF0F3B04A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3AEA9"/>
                </a:solidFill>
              </a:defRPr>
            </a:pPr>
            <a:r>
              <a:rPr sz="1125" b="1">
                <a:solidFill>
                  <a:srgbClr val="03AEA9"/>
                </a:solidFill>
              </a:rPr>
              <a:t>DISPLAY / IMPACT / ALL CAPS</a:t>
            </a:r>
          </a:p>
        </p:txBody>
      </p:sp>
      <p:sp>
        <p:nvSpPr>
          <p:cNvPr id="7" name="tagline-specimen">
            <a:extLst xmlns:a="http://schemas.openxmlformats.org/drawingml/2006/main">
              <a:ext uri="{FF2B5EF4-FFF2-40B4-BE49-F238E27FC236}">
                <a16:creationId xmlns:a16="http://schemas.microsoft.com/office/drawing/2014/main" id="{47EAA694-BF7C-43C6-8653-8B04612A0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714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6F3EC"/>
                </a:solidFill>
              </a:defRPr>
            </a:pPr>
            <a:r>
              <a:rPr sz="2850" b="1">
                <a:solidFill>
                  <a:srgbClr val="F6F3EC"/>
                </a:solidFill>
              </a:rPr>
              <a:t>STAY CURIOUS. LOOK CLOSER.</a:t>
            </a:r>
          </a:p>
        </p:txBody>
      </p:sp>
      <p:sp>
        <p:nvSpPr>
          <p:cNvPr id="8" name="tagline-label">
            <a:extLst xmlns:a="http://schemas.openxmlformats.org/drawingml/2006/main">
              <a:ext uri="{FF2B5EF4-FFF2-40B4-BE49-F238E27FC236}">
                <a16:creationId xmlns:a16="http://schemas.microsoft.com/office/drawing/2014/main" id="{0DE12216-CD35-4FFB-BFC8-EE7514E4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CAB05"/>
                </a:solidFill>
              </a:defRPr>
            </a:pPr>
            <a:r>
              <a:rPr sz="1125" b="1">
                <a:solidFill>
                  <a:srgbClr val="FCAB05"/>
                </a:solidFill>
              </a:rPr>
              <a:t>TAGLINE AND LABELS / ARIAL NARROW BOLD</a:t>
            </a:r>
          </a:p>
        </p:txBody>
      </p:sp>
      <p:sp>
        <p:nvSpPr>
          <p:cNvPr id="9" name="body-type-field">
            <a:extLst xmlns:a="http://schemas.openxmlformats.org/drawingml/2006/main">
              <a:ext uri="{FF2B5EF4-FFF2-40B4-BE49-F238E27FC236}">
                <a16:creationId xmlns:a16="http://schemas.microsoft.com/office/drawing/2014/main" id="{4DB88C82-22D3-4A3E-A90E-B7EFA299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95450"/>
            <a:ext cx="31432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ody-title">
            <a:extLst xmlns:a="http://schemas.openxmlformats.org/drawingml/2006/main">
              <a:ext uri="{FF2B5EF4-FFF2-40B4-BE49-F238E27FC236}">
                <a16:creationId xmlns:a16="http://schemas.microsoft.com/office/drawing/2014/main" id="{472DD75F-9B61-4D4F-A89A-87F832C7B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955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E4B05"/>
                </a:solidFill>
              </a:defRPr>
            </a:pPr>
            <a:r>
              <a:rPr sz="1650" b="1">
                <a:solidFill>
                  <a:srgbClr val="FE4B05"/>
                </a:solidFill>
              </a:rPr>
              <a:t>BODY</a:t>
            </a:r>
          </a:p>
        </p:txBody>
      </p:sp>
      <p:sp>
        <p:nvSpPr>
          <p:cNvPr id="11" name="body-specimen">
            <a:extLst xmlns:a="http://schemas.openxmlformats.org/drawingml/2006/main">
              <a:ext uri="{FF2B5EF4-FFF2-40B4-BE49-F238E27FC236}">
                <a16:creationId xmlns:a16="http://schemas.microsoft.com/office/drawing/2014/main" id="{B715EC64-64BB-4EA3-964C-A698AF22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28900"/>
            <a:ext cx="2381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1514"/>
                </a:solidFill>
              </a:defRPr>
            </a:pPr>
            <a:r>
              <a:rPr sz="1500" b="0">
                <a:solidFill>
                  <a:srgbClr val="151514"/>
                </a:solidFill>
              </a:rPr>
              <a:t>Use Arial for readable explanations. Keep sentences short. Keep one clear idea in each paragraph.</a:t>
            </a:r>
          </a:p>
        </p:txBody>
      </p:sp>
      <p:sp>
        <p:nvSpPr>
          <p:cNvPr id="12" name="mono-title">
            <a:extLst xmlns:a="http://schemas.openxmlformats.org/drawingml/2006/main">
              <a:ext uri="{FF2B5EF4-FFF2-40B4-BE49-F238E27FC236}">
                <a16:creationId xmlns:a16="http://schemas.microsoft.com/office/drawing/2014/main" id="{126E0465-E975-4537-8426-3609D0AA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10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3AEA9"/>
                </a:solidFill>
              </a:defRPr>
            </a:pPr>
            <a:r>
              <a:rPr sz="1650" b="1">
                <a:solidFill>
                  <a:srgbClr val="03AEA9"/>
                </a:solidFill>
              </a:rPr>
              <a:t>MONO</a:t>
            </a:r>
          </a:p>
        </p:txBody>
      </p:sp>
      <p:sp>
        <p:nvSpPr>
          <p:cNvPr id="13" name="mono-specimen">
            <a:extLst xmlns:a="http://schemas.openxmlformats.org/drawingml/2006/main">
              <a:ext uri="{FF2B5EF4-FFF2-40B4-BE49-F238E27FC236}">
                <a16:creationId xmlns:a16="http://schemas.microsoft.com/office/drawing/2014/main" id="{594A9C5D-FED7-4CB5-B7E3-63A348AA8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434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1514"/>
                </a:solidFill>
              </a:defRPr>
            </a:pPr>
            <a:r>
              <a:rPr sz="1275" b="1">
                <a:solidFill>
                  <a:srgbClr val="151514"/>
                </a:solidFill>
              </a:rPr>
              <a:t>VERIFY / TEST / SHIP</a:t>
            </a:r>
          </a:p>
        </p:txBody>
      </p:sp>
      <p:sp>
        <p:nvSpPr>
          <p:cNvPr id="14" name="mono-copy">
            <a:extLst xmlns:a="http://schemas.openxmlformats.org/drawingml/2006/main">
              <a:ext uri="{FF2B5EF4-FFF2-40B4-BE49-F238E27FC236}">
                <a16:creationId xmlns:a16="http://schemas.microsoft.com/office/drawing/2014/main" id="{33B5D419-4374-4FC7-BF18-3E8F46347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2006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86B70"/>
                </a:solidFill>
              </a:defRPr>
            </a:pPr>
            <a:r>
              <a:rPr sz="1125" b="0">
                <a:solidFill>
                  <a:srgbClr val="686B70"/>
                </a:solidFill>
              </a:rPr>
              <a:t>Use Cascadia Mono for code, file paths, values, and technical labels.</a:t>
            </a:r>
          </a:p>
        </p:txBody>
      </p:sp>
      <p:sp>
        <p:nvSpPr>
          <p:cNvPr id="15" name="footer-brand">
            <a:extLst xmlns:a="http://schemas.openxmlformats.org/drawingml/2006/main">
              <a:ext uri="{FF2B5EF4-FFF2-40B4-BE49-F238E27FC236}">
                <a16:creationId xmlns:a16="http://schemas.microsoft.com/office/drawing/2014/main" id="{D010E114-C1BF-4B4B-AD6A-B9D1262E9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6F3EC"/>
                </a:solidFill>
              </a:defRPr>
            </a:pPr>
            <a:r>
              <a:rPr sz="825" b="0">
                <a:solidFill>
                  <a:srgbClr val="F6F3EC"/>
                </a:solidFill>
              </a:rPr>
              <a:t>SHAYA / SIGNAL COLOR</a:t>
            </a:r>
          </a:p>
        </p:txBody>
      </p:sp>
      <p:sp>
        <p:nvSpPr>
          <p:cNvPr id="16" name="footer-page">
            <a:extLst xmlns:a="http://schemas.openxmlformats.org/drawingml/2006/main">
              <a:ext uri="{FF2B5EF4-FFF2-40B4-BE49-F238E27FC236}">
                <a16:creationId xmlns:a16="http://schemas.microsoft.com/office/drawing/2014/main" id="{C9768762-E741-47BE-8B6A-5485F32FF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F6F3EC"/>
                </a:solidFill>
              </a:defRPr>
            </a:pPr>
            <a:r>
              <a:rPr sz="825" b="0">
                <a:solidFill>
                  <a:srgbClr val="F6F3EC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541584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515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eyebrow">
            <a:extLst xmlns:a="http://schemas.openxmlformats.org/drawingml/2006/main">
              <a:ext uri="{FF2B5EF4-FFF2-40B4-BE49-F238E27FC236}">
                <a16:creationId xmlns:a16="http://schemas.microsoft.com/office/drawing/2014/main" id="{3DE1F7F5-BEEA-4A73-B2E6-64475AB4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CAB05"/>
                </a:solidFill>
              </a:defRPr>
            </a:pPr>
            <a:r>
              <a:rPr sz="1125" b="1">
                <a:solidFill>
                  <a:srgbClr val="FCAB05"/>
                </a:solidFill>
              </a:rPr>
              <a:t>05 / ILLUSTRATION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248B35E-5AA0-4420-93C9-96B804723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F6F3EC"/>
                </a:solidFill>
              </a:defRPr>
            </a:pPr>
            <a:r>
              <a:rPr sz="3450" b="0">
                <a:solidFill>
                  <a:srgbClr val="F6F3EC"/>
                </a:solidFill>
              </a:rPr>
              <a:t>Build worlds from flat geometry and small clues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bb5eecf6094b82"/>
          <a:stretch xmlns:a="http://schemas.openxmlformats.org/drawingml/2006/main"/>
        </p:blipFill>
        <p:spPr>
          <a:xfrm xmlns:a="http://schemas.openxmlformats.org/drawingml/2006/main">
            <a:off x="609600" y="1619250"/>
            <a:ext cx="6858000" cy="257175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ab05ea074b48b8">
            <a:extLst>
              <a:ext uri="{96DAC541-7B7A-43D3-8B79-37D633B846F1}">
                <asvg:svgBlip xmlns:asvg="http://schemas.microsoft.com/office/drawing/2016/SVG/main" r:embed="Ra9bf1ea9e9704fa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829550" y="1619250"/>
            <a:ext cx="3714750" cy="2571750"/>
          </a:xfrm>
          <a:prstGeom xmlns:a="http://schemas.openxmlformats.org/drawingml/2006/main" prst="rect">
            <a:avLst/>
          </a:prstGeom>
        </p:spPr>
      </p:pic>
      <p:sp>
        <p:nvSpPr>
          <p:cNvPr id="5" name="illustration-rule-1">
            <a:extLst xmlns:a="http://schemas.openxmlformats.org/drawingml/2006/main">
              <a:ext uri="{FF2B5EF4-FFF2-40B4-BE49-F238E27FC236}">
                <a16:creationId xmlns:a16="http://schemas.microsoft.com/office/drawing/2014/main" id="{76269AEE-FF2B-496E-8A8E-DC07006E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2766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AE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illustration-title-1">
            <a:extLst xmlns:a="http://schemas.openxmlformats.org/drawingml/2006/main">
              <a:ext uri="{FF2B5EF4-FFF2-40B4-BE49-F238E27FC236}">
                <a16:creationId xmlns:a16="http://schemas.microsoft.com/office/drawing/2014/main" id="{72589332-C659-4761-9633-00D4A468D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6F3EC"/>
                </a:solidFill>
              </a:defRPr>
            </a:pPr>
            <a:r>
              <a:rPr sz="1650" b="1">
                <a:solidFill>
                  <a:srgbClr val="F6F3EC"/>
                </a:solidFill>
              </a:rPr>
              <a:t>FLAT GEOMETRY</a:t>
            </a:r>
          </a:p>
        </p:txBody>
      </p:sp>
      <p:sp>
        <p:nvSpPr>
          <p:cNvPr id="7" name="illustration-copy-1">
            <a:extLst xmlns:a="http://schemas.openxmlformats.org/drawingml/2006/main">
              <a:ext uri="{FF2B5EF4-FFF2-40B4-BE49-F238E27FC236}">
                <a16:creationId xmlns:a16="http://schemas.microsoft.com/office/drawing/2014/main" id="{50D2DBF2-E7D5-4F9E-9F1C-555E75FD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3276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6F3EC"/>
                </a:solidFill>
              </a:defRPr>
            </a:pPr>
            <a:r>
              <a:rPr sz="1275" b="0">
                <a:solidFill>
                  <a:srgbClr val="F6F3EC"/>
                </a:solidFill>
              </a:rPr>
              <a:t>Use crisp planes, bold perspective, and simple silhouettes.</a:t>
            </a:r>
          </a:p>
        </p:txBody>
      </p:sp>
      <p:sp>
        <p:nvSpPr>
          <p:cNvPr id="8" name="illustration-rule-2">
            <a:extLst xmlns:a="http://schemas.openxmlformats.org/drawingml/2006/main">
              <a:ext uri="{FF2B5EF4-FFF2-40B4-BE49-F238E27FC236}">
                <a16:creationId xmlns:a16="http://schemas.microsoft.com/office/drawing/2014/main" id="{E0CD210E-B27A-45E8-8E6B-B3B808FD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667250"/>
            <a:ext cx="32766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4B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illustration-title-2">
            <a:extLst xmlns:a="http://schemas.openxmlformats.org/drawingml/2006/main">
              <a:ext uri="{FF2B5EF4-FFF2-40B4-BE49-F238E27FC236}">
                <a16:creationId xmlns:a16="http://schemas.microsoft.com/office/drawing/2014/main" id="{431EB85C-88E9-4ABD-B50D-32C85E24C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9720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6F3EC"/>
                </a:solidFill>
              </a:defRPr>
            </a:pPr>
            <a:r>
              <a:rPr sz="1650" b="1">
                <a:solidFill>
                  <a:srgbClr val="F6F3EC"/>
                </a:solidFill>
              </a:rPr>
              <a:t>PRINT GRAIN</a:t>
            </a:r>
          </a:p>
        </p:txBody>
      </p:sp>
      <p:sp>
        <p:nvSpPr>
          <p:cNvPr id="10" name="illustration-copy-2">
            <a:extLst xmlns:a="http://schemas.openxmlformats.org/drawingml/2006/main">
              <a:ext uri="{FF2B5EF4-FFF2-40B4-BE49-F238E27FC236}">
                <a16:creationId xmlns:a16="http://schemas.microsoft.com/office/drawing/2014/main" id="{4FF66470-200F-4187-B0A3-30C636586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53050"/>
            <a:ext cx="3276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6F3EC"/>
                </a:solidFill>
              </a:defRPr>
            </a:pPr>
            <a:r>
              <a:rPr sz="1275" b="0">
                <a:solidFill>
                  <a:srgbClr val="F6F3EC"/>
                </a:solidFill>
              </a:rPr>
              <a:t>Add subtle paper or screen-print texture. Keep edges readable.</a:t>
            </a:r>
          </a:p>
        </p:txBody>
      </p:sp>
      <p:sp>
        <p:nvSpPr>
          <p:cNvPr id="11" name="illustration-rule-3">
            <a:extLst xmlns:a="http://schemas.openxmlformats.org/drawingml/2006/main">
              <a:ext uri="{FF2B5EF4-FFF2-40B4-BE49-F238E27FC236}">
                <a16:creationId xmlns:a16="http://schemas.microsoft.com/office/drawing/2014/main" id="{CD38A167-F6E5-4797-B428-3AD649000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667250"/>
            <a:ext cx="32766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AB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illustration-title-3">
            <a:extLst xmlns:a="http://schemas.openxmlformats.org/drawingml/2006/main">
              <a:ext uri="{FF2B5EF4-FFF2-40B4-BE49-F238E27FC236}">
                <a16:creationId xmlns:a16="http://schemas.microsoft.com/office/drawing/2014/main" id="{D3624BF7-E076-4D33-AEF9-4A32CFD0A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9720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6F3EC"/>
                </a:solidFill>
              </a:defRPr>
            </a:pPr>
            <a:r>
              <a:rPr sz="1650" b="1">
                <a:solidFill>
                  <a:srgbClr val="F6F3EC"/>
                </a:solidFill>
              </a:rPr>
              <a:t>SMALL CLUES</a:t>
            </a:r>
          </a:p>
        </p:txBody>
      </p:sp>
      <p:sp>
        <p:nvSpPr>
          <p:cNvPr id="13" name="illustration-copy-3">
            <a:extLst xmlns:a="http://schemas.openxmlformats.org/drawingml/2006/main">
              <a:ext uri="{FF2B5EF4-FFF2-40B4-BE49-F238E27FC236}">
                <a16:creationId xmlns:a16="http://schemas.microsoft.com/office/drawing/2014/main" id="{E7858EC8-EEB8-4AA0-9525-CDD87AEDC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53050"/>
            <a:ext cx="3276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6F3EC"/>
                </a:solidFill>
              </a:defRPr>
            </a:pPr>
            <a:r>
              <a:rPr sz="1275" b="0">
                <a:solidFill>
                  <a:srgbClr val="F6F3EC"/>
                </a:solidFill>
              </a:rPr>
              <a:t>Reward a second look with one quiet person, animal, or trace.</a:t>
            </a:r>
          </a:p>
        </p:txBody>
      </p:sp>
      <p:sp>
        <p:nvSpPr>
          <p:cNvPr id="14" name="footer-brand">
            <a:extLst xmlns:a="http://schemas.openxmlformats.org/drawingml/2006/main">
              <a:ext uri="{FF2B5EF4-FFF2-40B4-BE49-F238E27FC236}">
                <a16:creationId xmlns:a16="http://schemas.microsoft.com/office/drawing/2014/main" id="{B2454A6B-3D3A-44EF-B0FC-2A526A72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6F3EC"/>
                </a:solidFill>
              </a:defRPr>
            </a:pPr>
            <a:r>
              <a:rPr sz="825" b="0">
                <a:solidFill>
                  <a:srgbClr val="F6F3EC"/>
                </a:solidFill>
              </a:rPr>
              <a:t>SHAYA / SIGNAL COLOR</a:t>
            </a:r>
          </a:p>
        </p:txBody>
      </p:sp>
      <p:sp>
        <p:nvSpPr>
          <p:cNvPr id="1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45451E17-9D35-4F75-BCB9-D4AC665F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F6F3EC"/>
                </a:solidFill>
              </a:defRPr>
            </a:pPr>
            <a:r>
              <a:rPr sz="825" b="0">
                <a:solidFill>
                  <a:srgbClr val="F6F3EC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247897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eyebrow">
            <a:extLst xmlns:a="http://schemas.openxmlformats.org/drawingml/2006/main">
              <a:ext uri="{FF2B5EF4-FFF2-40B4-BE49-F238E27FC236}">
                <a16:creationId xmlns:a16="http://schemas.microsoft.com/office/drawing/2014/main" id="{AD426B3B-1D1A-4692-9806-B1FCBC76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E4B05"/>
                </a:solidFill>
              </a:defRPr>
            </a:pPr>
            <a:r>
              <a:rPr sz="1125" b="1">
                <a:solidFill>
                  <a:srgbClr val="FE4B05"/>
                </a:solidFill>
              </a:rPr>
              <a:t>06 / MOTION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9A778D9-8AF1-4227-8357-8C933D423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151514"/>
                </a:solidFill>
              </a:defRPr>
            </a:pPr>
            <a:r>
              <a:rPr sz="3450" b="0">
                <a:solidFill>
                  <a:srgbClr val="151514"/>
                </a:solidFill>
              </a:rPr>
              <a:t>Move slowly enough to reveal the detail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2e5f048a984bda"/>
          <a:stretch xmlns:a="http://schemas.openxmlformats.org/drawingml/2006/main"/>
        </p:blipFill>
        <p:spPr>
          <a:xfrm xmlns:a="http://schemas.openxmlformats.org/drawingml/2006/main">
            <a:off x="609600" y="1657350"/>
            <a:ext cx="4953000" cy="185737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449201e3314f63"/>
          <a:stretch xmlns:a="http://schemas.openxmlformats.org/drawingml/2006/main"/>
        </p:blipFill>
        <p:spPr>
          <a:xfrm xmlns:a="http://schemas.openxmlformats.org/drawingml/2006/main">
            <a:off x="6629400" y="1657350"/>
            <a:ext cx="4953000" cy="1857375"/>
          </a:xfrm>
          <a:prstGeom xmlns:a="http://schemas.openxmlformats.org/drawingml/2006/main" prst="rect">
            <a:avLst/>
          </a:prstGeom>
        </p:spPr>
      </p:pic>
      <p:sp>
        <p:nvSpPr>
          <p:cNvPr id="5" name="establish-label">
            <a:extLst xmlns:a="http://schemas.openxmlformats.org/drawingml/2006/main">
              <a:ext uri="{FF2B5EF4-FFF2-40B4-BE49-F238E27FC236}">
                <a16:creationId xmlns:a16="http://schemas.microsoft.com/office/drawing/2014/main" id="{0573D7FB-E71F-41FA-9F9A-F54D27FF4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231B1"/>
                </a:solidFill>
              </a:defRPr>
            </a:pPr>
            <a:r>
              <a:rPr sz="1125" b="1">
                <a:solidFill>
                  <a:srgbClr val="0231B1"/>
                </a:solidFill>
              </a:rPr>
              <a:t>01 / ESTABLISH</a:t>
            </a:r>
          </a:p>
        </p:txBody>
      </p:sp>
      <p:sp>
        <p:nvSpPr>
          <p:cNvPr id="6" name="detail-label">
            <a:extLst xmlns:a="http://schemas.openxmlformats.org/drawingml/2006/main">
              <a:ext uri="{FF2B5EF4-FFF2-40B4-BE49-F238E27FC236}">
                <a16:creationId xmlns:a16="http://schemas.microsoft.com/office/drawing/2014/main" id="{2F7B784A-743C-4BA0-85EC-FF7B2B38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73380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E4B05"/>
                </a:solidFill>
              </a:defRPr>
            </a:pPr>
            <a:r>
              <a:rPr sz="1125" b="1">
                <a:solidFill>
                  <a:srgbClr val="FE4B05"/>
                </a:solidFill>
              </a:rPr>
              <a:t>02 / LOOK CLOSER</a:t>
            </a:r>
          </a:p>
        </p:txBody>
      </p:sp>
      <p:sp>
        <p:nvSpPr>
          <p:cNvPr id="7" name="motion-stage-1">
            <a:extLst xmlns:a="http://schemas.openxmlformats.org/drawingml/2006/main">
              <a:ext uri="{FF2B5EF4-FFF2-40B4-BE49-F238E27FC236}">
                <a16:creationId xmlns:a16="http://schemas.microsoft.com/office/drawing/2014/main" id="{BDCBFA23-A38A-40E1-9A58-B4DA0D8DE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2381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31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otion-title-1">
            <a:extLst xmlns:a="http://schemas.openxmlformats.org/drawingml/2006/main">
              <a:ext uri="{FF2B5EF4-FFF2-40B4-BE49-F238E27FC236}">
                <a16:creationId xmlns:a16="http://schemas.microsoft.com/office/drawing/2014/main" id="{75F4F0F3-9154-4689-9EB9-B26E254EB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1514"/>
                </a:solidFill>
              </a:defRPr>
            </a:pPr>
            <a:r>
              <a:rPr sz="1575" b="1">
                <a:solidFill>
                  <a:srgbClr val="151514"/>
                </a:solidFill>
              </a:rPr>
              <a:t>HOLD</a:t>
            </a:r>
          </a:p>
        </p:txBody>
      </p:sp>
      <p:sp>
        <p:nvSpPr>
          <p:cNvPr id="9" name="motion-copy-1">
            <a:extLst xmlns:a="http://schemas.openxmlformats.org/drawingml/2006/main">
              <a:ext uri="{FF2B5EF4-FFF2-40B4-BE49-F238E27FC236}">
                <a16:creationId xmlns:a16="http://schemas.microsoft.com/office/drawing/2014/main" id="{22301161-864B-44D3-B4F7-1714EF5B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2381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6B70"/>
                </a:solidFill>
              </a:defRPr>
            </a:pPr>
            <a:r>
              <a:rPr sz="1200" b="0">
                <a:solidFill>
                  <a:srgbClr val="686B70"/>
                </a:solidFill>
              </a:rPr>
              <a:t>Let the full scene read.</a:t>
            </a:r>
          </a:p>
        </p:txBody>
      </p:sp>
      <p:sp>
        <p:nvSpPr>
          <p:cNvPr id="10" name="motion-stage-2">
            <a:extLst xmlns:a="http://schemas.openxmlformats.org/drawingml/2006/main">
              <a:ext uri="{FF2B5EF4-FFF2-40B4-BE49-F238E27FC236}">
                <a16:creationId xmlns:a16="http://schemas.microsoft.com/office/drawing/2014/main" id="{ED9B2F2A-8810-4229-BE0E-26DE43686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95800"/>
            <a:ext cx="2381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AE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motion-title-2">
            <a:extLst xmlns:a="http://schemas.openxmlformats.org/drawingml/2006/main">
              <a:ext uri="{FF2B5EF4-FFF2-40B4-BE49-F238E27FC236}">
                <a16:creationId xmlns:a16="http://schemas.microsoft.com/office/drawing/2014/main" id="{5BC096B2-86BA-4FBA-A194-35E744D97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8387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1514"/>
                </a:solidFill>
              </a:defRPr>
            </a:pPr>
            <a:r>
              <a:rPr sz="1575" b="1">
                <a:solidFill>
                  <a:srgbClr val="151514"/>
                </a:solidFill>
              </a:rPr>
              <a:t>EASE IN</a:t>
            </a:r>
          </a:p>
        </p:txBody>
      </p:sp>
      <p:sp>
        <p:nvSpPr>
          <p:cNvPr id="12" name="motion-copy-2">
            <a:extLst xmlns:a="http://schemas.openxmlformats.org/drawingml/2006/main">
              <a:ext uri="{FF2B5EF4-FFF2-40B4-BE49-F238E27FC236}">
                <a16:creationId xmlns:a16="http://schemas.microsoft.com/office/drawing/2014/main" id="{B3D81322-FDF3-45ED-88D1-CCC1BF3C4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219700"/>
            <a:ext cx="2381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6B70"/>
                </a:solidFill>
              </a:defRPr>
            </a:pPr>
            <a:r>
              <a:rPr sz="1200" b="0">
                <a:solidFill>
                  <a:srgbClr val="686B70"/>
                </a:solidFill>
              </a:rPr>
              <a:t>Use cubic-bezier(0.65, 0, 0.35, 1).</a:t>
            </a:r>
          </a:p>
        </p:txBody>
      </p:sp>
      <p:sp>
        <p:nvSpPr>
          <p:cNvPr id="13" name="motion-stage-3">
            <a:extLst xmlns:a="http://schemas.openxmlformats.org/drawingml/2006/main">
              <a:ext uri="{FF2B5EF4-FFF2-40B4-BE49-F238E27FC236}">
                <a16:creationId xmlns:a16="http://schemas.microsoft.com/office/drawing/2014/main" id="{BF1A91B9-CF28-454E-9DCA-2C75F5FE2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95800"/>
            <a:ext cx="2381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AB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motion-title-3">
            <a:extLst xmlns:a="http://schemas.openxmlformats.org/drawingml/2006/main">
              <a:ext uri="{FF2B5EF4-FFF2-40B4-BE49-F238E27FC236}">
                <a16:creationId xmlns:a16="http://schemas.microsoft.com/office/drawing/2014/main" id="{6CC71656-D9FC-4DDE-B1C0-26548D4E1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387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1514"/>
                </a:solidFill>
              </a:defRPr>
            </a:pPr>
            <a:r>
              <a:rPr sz="1575" b="1">
                <a:solidFill>
                  <a:srgbClr val="151514"/>
                </a:solidFill>
              </a:rPr>
              <a:t>STAGGER</a:t>
            </a:r>
          </a:p>
        </p:txBody>
      </p:sp>
      <p:sp>
        <p:nvSpPr>
          <p:cNvPr id="15" name="motion-copy-3">
            <a:extLst xmlns:a="http://schemas.openxmlformats.org/drawingml/2006/main">
              <a:ext uri="{FF2B5EF4-FFF2-40B4-BE49-F238E27FC236}">
                <a16:creationId xmlns:a16="http://schemas.microsoft.com/office/drawing/2014/main" id="{F6FF71AC-872C-4452-B058-D8180C66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19700"/>
            <a:ext cx="2381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6B70"/>
                </a:solidFill>
              </a:defRPr>
            </a:pPr>
            <a:r>
              <a:rPr sz="1200" b="0">
                <a:solidFill>
                  <a:srgbClr val="686B70"/>
                </a:solidFill>
              </a:rPr>
              <a:t>Bring ants in one by one with small timing changes.</a:t>
            </a:r>
          </a:p>
        </p:txBody>
      </p:sp>
      <p:sp>
        <p:nvSpPr>
          <p:cNvPr id="16" name="motion-stage-4">
            <a:extLst xmlns:a="http://schemas.openxmlformats.org/drawingml/2006/main">
              <a:ext uri="{FF2B5EF4-FFF2-40B4-BE49-F238E27FC236}">
                <a16:creationId xmlns:a16="http://schemas.microsoft.com/office/drawing/2014/main" id="{FC3B1753-19B1-499B-80B3-AEB93DE69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495800"/>
            <a:ext cx="2381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4B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otion-title-4">
            <a:extLst xmlns:a="http://schemas.openxmlformats.org/drawingml/2006/main">
              <a:ext uri="{FF2B5EF4-FFF2-40B4-BE49-F238E27FC236}">
                <a16:creationId xmlns:a16="http://schemas.microsoft.com/office/drawing/2014/main" id="{FD6D5304-3136-41CF-835C-07C4CF483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8387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1514"/>
                </a:solidFill>
              </a:defRPr>
            </a:pPr>
            <a:r>
              <a:rPr sz="1575" b="1">
                <a:solidFill>
                  <a:srgbClr val="151514"/>
                </a:solidFill>
              </a:rPr>
              <a:t>CLEAR</a:t>
            </a:r>
          </a:p>
        </p:txBody>
      </p:sp>
      <p:sp>
        <p:nvSpPr>
          <p:cNvPr id="18" name="motion-copy-4">
            <a:extLst xmlns:a="http://schemas.openxmlformats.org/drawingml/2006/main">
              <a:ext uri="{FF2B5EF4-FFF2-40B4-BE49-F238E27FC236}">
                <a16:creationId xmlns:a16="http://schemas.microsoft.com/office/drawing/2014/main" id="{6BA76BFF-DFB9-4EA6-85A2-AF42AC99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219700"/>
            <a:ext cx="2381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6B70"/>
                </a:solidFill>
              </a:defRPr>
            </a:pPr>
            <a:r>
              <a:rPr sz="1200" b="0">
                <a:solidFill>
                  <a:srgbClr val="686B70"/>
                </a:solidFill>
              </a:rPr>
              <a:t>Move every ant off screen before the camera returns.</a:t>
            </a:r>
          </a:p>
        </p:txBody>
      </p:sp>
      <p:sp>
        <p:nvSpPr>
          <p:cNvPr id="19" name="motion-surface-rule">
            <a:extLst xmlns:a="http://schemas.openxmlformats.org/drawingml/2006/main">
              <a:ext uri="{FF2B5EF4-FFF2-40B4-BE49-F238E27FC236}">
                <a16:creationId xmlns:a16="http://schemas.microsoft.com/office/drawing/2014/main" id="{9ACBACF4-159F-4BCE-9285-2293F4E82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1514"/>
                </a:solidFill>
              </a:defRPr>
            </a:pPr>
            <a:r>
              <a:rPr sz="1500" b="1">
                <a:solidFill>
                  <a:srgbClr val="151514"/>
                </a:solidFill>
              </a:rPr>
              <a:t>All moving details stay attached to a real surface. Ants do not cross the water.</a:t>
            </a:r>
          </a:p>
        </p:txBody>
      </p:sp>
      <p:sp>
        <p:nvSpPr>
          <p:cNvPr id="20" name="footer-brand">
            <a:extLst xmlns:a="http://schemas.openxmlformats.org/drawingml/2006/main">
              <a:ext uri="{FF2B5EF4-FFF2-40B4-BE49-F238E27FC236}">
                <a16:creationId xmlns:a16="http://schemas.microsoft.com/office/drawing/2014/main" id="{F2408A01-A7B9-495D-AB91-BBB3153E5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86B70"/>
                </a:solidFill>
              </a:defRPr>
            </a:pPr>
            <a:r>
              <a:rPr sz="825" b="0">
                <a:solidFill>
                  <a:srgbClr val="686B70"/>
                </a:solidFill>
              </a:rPr>
              <a:t>SHAYA / SIGNAL COLOR</a:t>
            </a:r>
          </a:p>
        </p:txBody>
      </p:sp>
      <p:sp>
        <p:nvSpPr>
          <p:cNvPr id="21" name="footer-page">
            <a:extLst xmlns:a="http://schemas.openxmlformats.org/drawingml/2006/main">
              <a:ext uri="{FF2B5EF4-FFF2-40B4-BE49-F238E27FC236}">
                <a16:creationId xmlns:a16="http://schemas.microsoft.com/office/drawing/2014/main" id="{64EF4818-50BB-4ACD-8949-53ABF5DD9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86B70"/>
                </a:solidFill>
              </a:defRPr>
            </a:pPr>
            <a:r>
              <a:rPr sz="825" b="0">
                <a:solidFill>
                  <a:srgbClr val="686B70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615904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231B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eyebrow">
            <a:extLst xmlns:a="http://schemas.openxmlformats.org/drawingml/2006/main">
              <a:ext uri="{FF2B5EF4-FFF2-40B4-BE49-F238E27FC236}">
                <a16:creationId xmlns:a16="http://schemas.microsoft.com/office/drawing/2014/main" id="{9E942033-9FDC-49AF-A88F-D298BE624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CAB05"/>
                </a:solidFill>
              </a:defRPr>
            </a:pPr>
            <a:r>
              <a:rPr sz="1125" b="1">
                <a:solidFill>
                  <a:srgbClr val="FCAB05"/>
                </a:solidFill>
              </a:rPr>
              <a:t>07 / GITHUB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B75D2C9-D594-4456-9C7D-DC4672D78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F6F3EC"/>
                </a:solidFill>
              </a:defRPr>
            </a:pPr>
            <a:r>
              <a:rPr sz="3450" b="0">
                <a:solidFill>
                  <a:srgbClr val="F6F3EC"/>
                </a:solidFill>
              </a:rPr>
              <a:t>Keep the profile readable before it becomes decorative</a:t>
            </a:r>
          </a:p>
        </p:txBody>
      </p:sp>
      <p:sp>
        <p:nvSpPr>
          <p:cNvPr id="3" name="github-surface">
            <a:extLst xmlns:a="http://schemas.openxmlformats.org/drawingml/2006/main">
              <a:ext uri="{FF2B5EF4-FFF2-40B4-BE49-F238E27FC236}">
                <a16:creationId xmlns:a16="http://schemas.microsoft.com/office/drawing/2014/main" id="{62C96455-0028-4ADA-9B6A-D6512CEDF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109728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github-label">
            <a:extLst xmlns:a="http://schemas.openxmlformats.org/drawingml/2006/main">
              <a:ext uri="{FF2B5EF4-FFF2-40B4-BE49-F238E27FC236}">
                <a16:creationId xmlns:a16="http://schemas.microsoft.com/office/drawing/2014/main" id="{9A874637-7088-419F-8E3A-74FB83327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09750"/>
            <a:ext cx="228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86B70"/>
                </a:solidFill>
              </a:defRPr>
            </a:pPr>
            <a:r>
              <a:rPr sz="1050" b="1">
                <a:solidFill>
                  <a:srgbClr val="686B70"/>
                </a:solidFill>
              </a:rPr>
              <a:t>PROFILE README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873c620c944614"/>
          <a:stretch xmlns:a="http://schemas.openxmlformats.org/drawingml/2006/main"/>
        </p:blipFill>
        <p:spPr>
          <a:xfrm xmlns:a="http://schemas.openxmlformats.org/drawingml/2006/main">
            <a:off x="895350" y="2193131"/>
            <a:ext cx="7810500" cy="2928938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3ca14cdda545cc">
            <a:extLst>
              <a:ext uri="{96DAC541-7B7A-43D3-8B79-37D633B846F1}">
                <asvg:svgBlip xmlns:asvg="http://schemas.microsoft.com/office/drawing/2016/SVG/main" r:embed="R4021cc8d5e8a4a5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144000" y="2190750"/>
            <a:ext cx="1809750" cy="1809750"/>
          </a:xfrm>
          <a:prstGeom xmlns:a="http://schemas.openxmlformats.org/drawingml/2006/main" prst="rect">
            <a:avLst/>
          </a:prstGeom>
        </p:spPr>
      </p:pic>
      <p:sp>
        <p:nvSpPr>
          <p:cNvPr id="7" name="github-size">
            <a:extLst xmlns:a="http://schemas.openxmlformats.org/drawingml/2006/main">
              <a:ext uri="{FF2B5EF4-FFF2-40B4-BE49-F238E27FC236}">
                <a16:creationId xmlns:a16="http://schemas.microsoft.com/office/drawing/2014/main" id="{8C1CAEBD-58DE-401A-926E-95CEE3C77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248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51514"/>
                </a:solidFill>
              </a:defRPr>
            </a:pPr>
            <a:r>
              <a:rPr sz="1650" b="0">
                <a:solidFill>
                  <a:srgbClr val="151514"/>
                </a:solidFill>
              </a:rPr>
              <a:t>1280 x 480</a:t>
            </a:r>
          </a:p>
        </p:txBody>
      </p:sp>
      <p:sp>
        <p:nvSpPr>
          <p:cNvPr id="8" name="github-guidance">
            <a:extLst xmlns:a="http://schemas.openxmlformats.org/drawingml/2006/main">
              <a:ext uri="{FF2B5EF4-FFF2-40B4-BE49-F238E27FC236}">
                <a16:creationId xmlns:a16="http://schemas.microsoft.com/office/drawing/2014/main" id="{F1AB8BF2-8C97-4C48-A3B8-7B9EDB178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29150"/>
            <a:ext cx="1809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86B70"/>
                </a:solidFill>
              </a:defRPr>
            </a:pPr>
            <a:r>
              <a:rPr sz="1050" b="0">
                <a:solidFill>
                  <a:srgbClr val="686B70"/>
                </a:solidFill>
              </a:rPr>
              <a:t>Keep SHAYA and the tagline inside the left identity rail. Do not place foliage, motion, or interface labels over the words.</a:t>
            </a:r>
          </a:p>
        </p:txBody>
      </p:sp>
      <p:sp>
        <p:nvSpPr>
          <p:cNvPr id="9" name="footer-brand">
            <a:extLst xmlns:a="http://schemas.openxmlformats.org/drawingml/2006/main">
              <a:ext uri="{FF2B5EF4-FFF2-40B4-BE49-F238E27FC236}">
                <a16:creationId xmlns:a16="http://schemas.microsoft.com/office/drawing/2014/main" id="{AE7E8271-D0AB-4F47-9311-811412463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6F3EC"/>
                </a:solidFill>
              </a:defRPr>
            </a:pPr>
            <a:r>
              <a:rPr sz="825" b="0">
                <a:solidFill>
                  <a:srgbClr val="F6F3EC"/>
                </a:solidFill>
              </a:rPr>
              <a:t>SHAYA / SIGNAL COLOR</a:t>
            </a:r>
          </a:p>
        </p:txBody>
      </p:sp>
      <p:sp>
        <p:nvSpPr>
          <p:cNvPr id="10" name="footer-page">
            <a:extLst xmlns:a="http://schemas.openxmlformats.org/drawingml/2006/main">
              <a:ext uri="{FF2B5EF4-FFF2-40B4-BE49-F238E27FC236}">
                <a16:creationId xmlns:a16="http://schemas.microsoft.com/office/drawing/2014/main" id="{4BF91D40-05A7-4501-8EF6-20C37EC8F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F6F3EC"/>
                </a:solidFill>
              </a:defRPr>
            </a:pPr>
            <a:r>
              <a:rPr sz="825" b="0">
                <a:solidFill>
                  <a:srgbClr val="F6F3EC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67788759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eyebrow">
            <a:extLst xmlns:a="http://schemas.openxmlformats.org/drawingml/2006/main">
              <a:ext uri="{FF2B5EF4-FFF2-40B4-BE49-F238E27FC236}">
                <a16:creationId xmlns:a16="http://schemas.microsoft.com/office/drawing/2014/main" id="{C7005271-1F8D-45E4-9318-7F736EB0B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E4B05"/>
                </a:solidFill>
              </a:defRPr>
            </a:pPr>
            <a:r>
              <a:rPr sz="1125" b="1">
                <a:solidFill>
                  <a:srgbClr val="FE4B05"/>
                </a:solidFill>
              </a:rPr>
              <a:t>08 / VOICE AND RELEASE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3a4dd78e92497d">
            <a:extLst>
              <a:ext uri="{96DAC541-7B7A-43D3-8B79-37D633B846F1}">
                <asvg:svgBlip xmlns:asvg="http://schemas.microsoft.com/office/drawing/2016/SVG/main" r:embed="R9ccf24c70aeb409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9600" y="857250"/>
            <a:ext cx="6667500" cy="1752600"/>
          </a:xfrm>
          <a:prstGeom xmlns:a="http://schemas.openxmlformats.org/drawingml/2006/main" prst="rect">
            <a:avLst/>
          </a:prstGeom>
        </p:spPr>
      </p:pic>
      <p:sp>
        <p:nvSpPr>
          <p:cNvPr id="3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D9964EE4-D670-4B28-A2DD-566622449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8001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0">
                <a:solidFill>
                  <a:srgbClr val="151514"/>
                </a:solidFill>
              </a:defRPr>
            </a:pPr>
            <a:r>
              <a:rPr sz="3750" b="0">
                <a:solidFill>
                  <a:srgbClr val="151514"/>
                </a:solidFill>
              </a:rPr>
              <a:t>Look closer before you claim certainty.</a:t>
            </a:r>
          </a:p>
        </p:txBody>
      </p:sp>
      <p:sp>
        <p:nvSpPr>
          <p:cNvPr id="4" name="closing-copy">
            <a:extLst xmlns:a="http://schemas.openxmlformats.org/drawingml/2006/main">
              <a:ext uri="{FF2B5EF4-FFF2-40B4-BE49-F238E27FC236}">
                <a16:creationId xmlns:a16="http://schemas.microsoft.com/office/drawing/2014/main" id="{42623A70-97C2-4A71-8789-ADCCB644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0"/>
            <a:ext cx="723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86B70"/>
                </a:solidFill>
              </a:defRPr>
            </a:pPr>
            <a:r>
              <a:rPr sz="1575" b="0">
                <a:solidFill>
                  <a:srgbClr val="686B70"/>
                </a:solidFill>
              </a:rPr>
              <a:t>The visual system is bright. The written voice stays careful, direct, and evidence-first.</a:t>
            </a:r>
          </a:p>
        </p:txBody>
      </p:sp>
      <p:sp>
        <p:nvSpPr>
          <p:cNvPr id="5" name="release-check-1">
            <a:extLst xmlns:a="http://schemas.openxmlformats.org/drawingml/2006/main">
              <a:ext uri="{FF2B5EF4-FFF2-40B4-BE49-F238E27FC236}">
                <a16:creationId xmlns:a16="http://schemas.microsoft.com/office/drawing/2014/main" id="{5657FC70-7DD2-4BA6-B916-765ABE96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31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release-title-1">
            <a:extLst xmlns:a="http://schemas.openxmlformats.org/drawingml/2006/main">
              <a:ext uri="{FF2B5EF4-FFF2-40B4-BE49-F238E27FC236}">
                <a16:creationId xmlns:a16="http://schemas.microsoft.com/office/drawing/2014/main" id="{AE9E202B-692F-4D6A-9389-9AD57BA32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816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6F3EC"/>
                </a:solidFill>
              </a:defRPr>
            </a:pPr>
            <a:r>
              <a:rPr sz="1500" b="1">
                <a:solidFill>
                  <a:srgbClr val="F6F3EC"/>
                </a:solidFill>
              </a:rPr>
              <a:t>VERIFY</a:t>
            </a:r>
          </a:p>
        </p:txBody>
      </p:sp>
      <p:sp>
        <p:nvSpPr>
          <p:cNvPr id="7" name="release-copy-1">
            <a:extLst xmlns:a="http://schemas.openxmlformats.org/drawingml/2006/main">
              <a:ext uri="{FF2B5EF4-FFF2-40B4-BE49-F238E27FC236}">
                <a16:creationId xmlns:a16="http://schemas.microsoft.com/office/drawing/2014/main" id="{C4CCB85B-50CA-4497-84A4-4A5B48367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6F3EC"/>
                </a:solidFill>
              </a:defRPr>
            </a:pPr>
            <a:r>
              <a:rPr sz="1125" b="0">
                <a:solidFill>
                  <a:srgbClr val="F6F3EC"/>
                </a:solidFill>
              </a:rPr>
              <a:t>Test the public result.</a:t>
            </a:r>
          </a:p>
        </p:txBody>
      </p:sp>
      <p:sp>
        <p:nvSpPr>
          <p:cNvPr id="8" name="release-check-2">
            <a:extLst xmlns:a="http://schemas.openxmlformats.org/drawingml/2006/main">
              <a:ext uri="{FF2B5EF4-FFF2-40B4-BE49-F238E27FC236}">
                <a16:creationId xmlns:a16="http://schemas.microsoft.com/office/drawing/2014/main" id="{41CF84F8-3758-4CFF-99DB-B8E5BBE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02920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AE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release-title-2">
            <a:extLst xmlns:a="http://schemas.openxmlformats.org/drawingml/2006/main">
              <a:ext uri="{FF2B5EF4-FFF2-40B4-BE49-F238E27FC236}">
                <a16:creationId xmlns:a16="http://schemas.microsoft.com/office/drawing/2014/main" id="{8BE45CC8-AACD-48EA-82C8-3AC33AE0D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816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6F3EC"/>
                </a:solidFill>
              </a:defRPr>
            </a:pPr>
            <a:r>
              <a:rPr sz="1500" b="1">
                <a:solidFill>
                  <a:srgbClr val="F6F3EC"/>
                </a:solidFill>
              </a:rPr>
              <a:t>LIMIT</a:t>
            </a:r>
          </a:p>
        </p:txBody>
      </p:sp>
      <p:sp>
        <p:nvSpPr>
          <p:cNvPr id="10" name="release-copy-2">
            <a:extLst xmlns:a="http://schemas.openxmlformats.org/drawingml/2006/main">
              <a:ext uri="{FF2B5EF4-FFF2-40B4-BE49-F238E27FC236}">
                <a16:creationId xmlns:a16="http://schemas.microsoft.com/office/drawing/2014/main" id="{EFE9A59B-97E7-42C5-8C95-2434DF011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5245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6F3EC"/>
                </a:solidFill>
              </a:defRPr>
            </a:pPr>
            <a:r>
              <a:rPr sz="1125" b="0">
                <a:solidFill>
                  <a:srgbClr val="F6F3EC"/>
                </a:solidFill>
              </a:rPr>
              <a:t>State what is not confirmed.</a:t>
            </a:r>
          </a:p>
        </p:txBody>
      </p:sp>
      <p:sp>
        <p:nvSpPr>
          <p:cNvPr id="11" name="release-check-3">
            <a:extLst xmlns:a="http://schemas.openxmlformats.org/drawingml/2006/main">
              <a:ext uri="{FF2B5EF4-FFF2-40B4-BE49-F238E27FC236}">
                <a16:creationId xmlns:a16="http://schemas.microsoft.com/office/drawing/2014/main" id="{8BB9BD21-EF93-4262-AFF0-53712FB68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2920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AB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release-title-3">
            <a:extLst xmlns:a="http://schemas.openxmlformats.org/drawingml/2006/main">
              <a:ext uri="{FF2B5EF4-FFF2-40B4-BE49-F238E27FC236}">
                <a16:creationId xmlns:a16="http://schemas.microsoft.com/office/drawing/2014/main" id="{03DACE8E-F9C4-4CFE-B60D-8316B93CE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816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1514"/>
                </a:solidFill>
              </a:defRPr>
            </a:pPr>
            <a:r>
              <a:rPr sz="1500" b="1">
                <a:solidFill>
                  <a:srgbClr val="151514"/>
                </a:solidFill>
              </a:rPr>
              <a:t>WRITE</a:t>
            </a:r>
          </a:p>
        </p:txBody>
      </p:sp>
      <p:sp>
        <p:nvSpPr>
          <p:cNvPr id="13" name="release-copy-3">
            <a:extLst xmlns:a="http://schemas.openxmlformats.org/drawingml/2006/main">
              <a:ext uri="{FF2B5EF4-FFF2-40B4-BE49-F238E27FC236}">
                <a16:creationId xmlns:a16="http://schemas.microsoft.com/office/drawing/2014/main" id="{2FF49342-40EE-4BB6-A2BE-A889D6023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5245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1514"/>
                </a:solidFill>
              </a:defRPr>
            </a:pPr>
            <a:r>
              <a:rPr sz="1125" b="0">
                <a:solidFill>
                  <a:srgbClr val="151514"/>
                </a:solidFill>
              </a:rPr>
              <a:t>Use short, direct sentences.</a:t>
            </a:r>
          </a:p>
        </p:txBody>
      </p:sp>
      <p:sp>
        <p:nvSpPr>
          <p:cNvPr id="14" name="release-check-4">
            <a:extLst xmlns:a="http://schemas.openxmlformats.org/drawingml/2006/main">
              <a:ext uri="{FF2B5EF4-FFF2-40B4-BE49-F238E27FC236}">
                <a16:creationId xmlns:a16="http://schemas.microsoft.com/office/drawing/2014/main" id="{076A7C47-1DF5-4D32-A821-9DC32C05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02920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4B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release-title-4">
            <a:extLst xmlns:a="http://schemas.openxmlformats.org/drawingml/2006/main">
              <a:ext uri="{FF2B5EF4-FFF2-40B4-BE49-F238E27FC236}">
                <a16:creationId xmlns:a16="http://schemas.microsoft.com/office/drawing/2014/main" id="{B7F6D95B-68BC-4CAE-839E-33826FD88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1816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6F3EC"/>
                </a:solidFill>
              </a:defRPr>
            </a:pPr>
            <a:r>
              <a:rPr sz="1500" b="1">
                <a:solidFill>
                  <a:srgbClr val="F6F3EC"/>
                </a:solidFill>
              </a:rPr>
              <a:t>REVIEW</a:t>
            </a:r>
          </a:p>
        </p:txBody>
      </p:sp>
      <p:sp>
        <p:nvSpPr>
          <p:cNvPr id="16" name="release-copy-4">
            <a:extLst xmlns:a="http://schemas.openxmlformats.org/drawingml/2006/main">
              <a:ext uri="{FF2B5EF4-FFF2-40B4-BE49-F238E27FC236}">
                <a16:creationId xmlns:a16="http://schemas.microsoft.com/office/drawing/2014/main" id="{A9496B5E-7AB5-4E22-92DB-6146D18F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5245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6F3EC"/>
                </a:solidFill>
              </a:defRPr>
            </a:pPr>
            <a:r>
              <a:rPr sz="1125" b="0">
                <a:solidFill>
                  <a:srgbClr val="F6F3EC"/>
                </a:solidFill>
              </a:rPr>
              <a:t>Check the details at final size.</a:t>
            </a:r>
          </a:p>
        </p:txBody>
      </p:sp>
      <p:sp>
        <p:nvSpPr>
          <p:cNvPr id="17" name="footer-brand">
            <a:extLst xmlns:a="http://schemas.openxmlformats.org/drawingml/2006/main">
              <a:ext uri="{FF2B5EF4-FFF2-40B4-BE49-F238E27FC236}">
                <a16:creationId xmlns:a16="http://schemas.microsoft.com/office/drawing/2014/main" id="{0AE2BC4B-1F35-49B1-BA98-A4FEA7CBB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86B70"/>
                </a:solidFill>
              </a:defRPr>
            </a:pPr>
            <a:r>
              <a:rPr sz="825" b="0">
                <a:solidFill>
                  <a:srgbClr val="686B70"/>
                </a:solidFill>
              </a:rPr>
              <a:t>SHAYA / SIGNAL COLOR</a:t>
            </a:r>
          </a:p>
        </p:txBody>
      </p:sp>
      <p:sp>
        <p:nvSpPr>
          <p:cNvPr id="1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497A46CD-A73E-4D71-AF00-756BEF77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86B70"/>
                </a:solidFill>
              </a:defRPr>
            </a:pPr>
            <a:r>
              <a:rPr sz="825" b="0">
                <a:solidFill>
                  <a:srgbClr val="686B70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352955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2026-07-31T05:39:30.7280000Z</dcterms:created>
  <dcterms:modified xsi:type="dcterms:W3CDTF">2026-07-31T05:39:30.7280000Z</dcterms:modified>
</coreProperties>
</file>